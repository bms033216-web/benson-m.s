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notesSlides/notesSlide10.xml" ContentType="application/vnd.openxmlformats-officedocument.presentationml.notesSlide+xml"/>
  <Override PartName="/ppt/charts/chart5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2" autoAdjust="0"/>
    <p:restoredTop sz="94660"/>
  </p:normalViewPr>
  <p:slideViewPr>
    <p:cSldViewPr snapToGrid="0">
      <p:cViewPr varScale="1">
        <p:scale>
          <a:sx n="54" d="100"/>
          <a:sy n="54" d="100"/>
        </p:scale>
        <p:origin x="10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Qty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5E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A97-4CF2-82CE-0B30C7D53B6E}"/>
              </c:ext>
            </c:extLst>
          </c:dPt>
          <c:dPt>
            <c:idx val="1"/>
            <c:bubble3D val="0"/>
            <c:spPr>
              <a:solidFill>
                <a:srgbClr val="FF1E8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A97-4CF2-82CE-0B30C7D53B6E}"/>
              </c:ext>
            </c:extLst>
          </c:dPt>
          <c:dPt>
            <c:idx val="2"/>
            <c:bubble3D val="0"/>
            <c:spPr>
              <a:solidFill>
                <a:srgbClr val="9B5C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A97-4CF2-82CE-0B30C7D53B6E}"/>
              </c:ext>
            </c:extLst>
          </c:dPt>
          <c:dPt>
            <c:idx val="3"/>
            <c:bubble3D val="0"/>
            <c:spPr>
              <a:solidFill>
                <a:srgbClr val="00E5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A97-4CF2-82CE-0B30C7D53B6E}"/>
              </c:ext>
            </c:extLst>
          </c:dPt>
          <c:dPt>
            <c:idx val="4"/>
            <c:bubble3D val="0"/>
            <c:spPr>
              <a:solidFill>
                <a:srgbClr val="FF7A1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A97-4CF2-82CE-0B30C7D53B6E}"/>
              </c:ext>
            </c:extLst>
          </c:dPt>
          <c:dPt>
            <c:idx val="5"/>
            <c:bubble3D val="0"/>
            <c:spPr>
              <a:solidFill>
                <a:srgbClr val="3D5AF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BA97-4CF2-82CE-0B30C7D53B6E}"/>
              </c:ext>
            </c:extLst>
          </c:dPt>
          <c:dPt>
            <c:idx val="6"/>
            <c:bubble3D val="0"/>
            <c:spPr>
              <a:solidFill>
                <a:srgbClr val="00E67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BA97-4CF2-82CE-0B30C7D53B6E}"/>
              </c:ext>
            </c:extLst>
          </c:dPt>
          <c:dPt>
            <c:idx val="7"/>
            <c:bubble3D val="0"/>
            <c:spPr>
              <a:solidFill>
                <a:srgbClr val="FF4D4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BA97-4CF2-82CE-0B30C7D53B6E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onsolas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A97-4CF2-82CE-0B30C7D53B6E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onsolas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A97-4CF2-82CE-0B30C7D53B6E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onsolas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A97-4CF2-82CE-0B30C7D53B6E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onsolas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A97-4CF2-82CE-0B30C7D53B6E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onsolas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BA97-4CF2-82CE-0B30C7D53B6E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onsolas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BA97-4CF2-82CE-0B30C7D53B6E}"/>
                </c:ext>
              </c:extLst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onsolas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BA97-4CF2-82CE-0B30C7D53B6E}"/>
                </c:ext>
              </c:extLst>
            </c:dLbl>
            <c:dLbl>
              <c:idx val="7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onsolas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BA97-4CF2-82CE-0B30C7D53B6E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Sheet1!$A$2:$A$9</c:f>
              <c:strCache>
                <c:ptCount val="8"/>
                <c:pt idx="0">
                  <c:v>Swiggy</c:v>
                </c:pt>
                <c:pt idx="1">
                  <c:v>Zomato</c:v>
                </c:pt>
                <c:pt idx="2">
                  <c:v>EatSure</c:v>
                </c:pt>
                <c:pt idx="3">
                  <c:v>Magicpin</c:v>
                </c:pt>
                <c:pt idx="4">
                  <c:v>Domino's</c:v>
                </c:pt>
                <c:pt idx="5">
                  <c:v>Burger King</c:v>
                </c:pt>
                <c:pt idx="6">
                  <c:v>Channel</c:v>
                </c:pt>
                <c:pt idx="7">
                  <c:v>KFC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58</c:v>
                </c:pt>
                <c:pt idx="1">
                  <c:v>54</c:v>
                </c:pt>
                <c:pt idx="2">
                  <c:v>21</c:v>
                </c:pt>
                <c:pt idx="3">
                  <c:v>17</c:v>
                </c:pt>
                <c:pt idx="4">
                  <c:v>16</c:v>
                </c:pt>
                <c:pt idx="5">
                  <c:v>15</c:v>
                </c:pt>
                <c:pt idx="6">
                  <c:v>13</c:v>
                </c:pt>
                <c:pt idx="7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BA97-4CF2-82CE-0B30C7D53B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solidFill>
          <a:srgbClr val="111111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D0D0D0"/>
              </a:solidFill>
              <a:latin typeface="Consolas"/>
              <a:cs typeface="Consolas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11111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</c:v>
                </c:pt>
              </c:strCache>
            </c:strRef>
          </c:tx>
          <c:spPr>
            <a:solidFill>
              <a:srgbClr val="FF1E8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Consola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EatSure</c:v>
                </c:pt>
                <c:pt idx="1">
                  <c:v>Magicpin</c:v>
                </c:pt>
                <c:pt idx="2">
                  <c:v>Domino's</c:v>
                </c:pt>
                <c:pt idx="3">
                  <c:v>Burger King</c:v>
                </c:pt>
                <c:pt idx="4">
                  <c:v>Channel</c:v>
                </c:pt>
                <c:pt idx="5">
                  <c:v>KFC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21</c:v>
                </c:pt>
                <c:pt idx="1">
                  <c:v>17</c:v>
                </c:pt>
                <c:pt idx="2">
                  <c:v>16</c:v>
                </c:pt>
                <c:pt idx="3">
                  <c:v>15</c:v>
                </c:pt>
                <c:pt idx="4">
                  <c:v>13</c:v>
                </c:pt>
                <c:pt idx="5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477-42C3-856C-392C8401AF3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D0D0D0"/>
                </a:solidFill>
                <a:latin typeface="Consola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A2A2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D0D0D0"/>
                </a:solidFill>
                <a:latin typeface="Consola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11111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11111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D5AF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149-4F70-99FA-BE310369026B}"/>
              </c:ext>
            </c:extLst>
          </c:dPt>
          <c:dPt>
            <c:idx val="1"/>
            <c:bubble3D val="0"/>
            <c:spPr>
              <a:solidFill>
                <a:srgbClr val="1A237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149-4F70-99FA-BE310369026B}"/>
              </c:ext>
            </c:extLst>
          </c:dPt>
          <c:dPt>
            <c:idx val="2"/>
            <c:bubble3D val="0"/>
            <c:spPr>
              <a:solidFill>
                <a:srgbClr val="FF7A1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149-4F70-99FA-BE310369026B}"/>
              </c:ext>
            </c:extLst>
          </c:dPt>
          <c:dPt>
            <c:idx val="3"/>
            <c:bubble3D val="0"/>
            <c:spPr>
              <a:solidFill>
                <a:srgbClr val="6A0DA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149-4F70-99FA-BE310369026B}"/>
              </c:ext>
            </c:extLst>
          </c:dPt>
          <c:dPt>
            <c:idx val="4"/>
            <c:bubble3D val="0"/>
            <c:spPr>
              <a:solidFill>
                <a:srgbClr val="FF1E8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149-4F70-99FA-BE310369026B}"/>
              </c:ext>
            </c:extLst>
          </c:dPt>
          <c:dPt>
            <c:idx val="5"/>
            <c:bubble3D val="0"/>
            <c:spPr>
              <a:solidFill>
                <a:srgbClr val="9B5C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E149-4F70-99FA-BE310369026B}"/>
              </c:ext>
            </c:extLst>
          </c:dPt>
          <c:dPt>
            <c:idx val="6"/>
            <c:bubble3D val="0"/>
            <c:spPr>
              <a:solidFill>
                <a:srgbClr val="F5E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E149-4F70-99FA-BE310369026B}"/>
              </c:ext>
            </c:extLst>
          </c:dPt>
          <c:dPt>
            <c:idx val="7"/>
            <c:bubble3D val="0"/>
            <c:spPr>
              <a:solidFill>
                <a:srgbClr val="E5393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E149-4F70-99FA-BE310369026B}"/>
              </c:ext>
            </c:extLst>
          </c:dPt>
          <c:dPt>
            <c:idx val="8"/>
            <c:bubble3D val="0"/>
            <c:spPr>
              <a:solidFill>
                <a:srgbClr val="00897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E149-4F70-99FA-BE310369026B}"/>
              </c:ext>
            </c:extLst>
          </c:dPt>
          <c:cat>
            <c:strRef>
              <c:f>Sheet1!$A$2:$A$10</c:f>
              <c:strCache>
                <c:ptCount val="9"/>
                <c:pt idx="0">
                  <c:v>Maharashtra</c:v>
                </c:pt>
                <c:pt idx="1">
                  <c:v>Kerala</c:v>
                </c:pt>
                <c:pt idx="2">
                  <c:v>West Bengal</c:v>
                </c:pt>
                <c:pt idx="3">
                  <c:v>Karnataka</c:v>
                </c:pt>
                <c:pt idx="4">
                  <c:v>Tamil Nadu</c:v>
                </c:pt>
                <c:pt idx="5">
                  <c:v>Telangana</c:v>
                </c:pt>
                <c:pt idx="6">
                  <c:v>Gujarat</c:v>
                </c:pt>
                <c:pt idx="7">
                  <c:v>Rajasthan</c:v>
                </c:pt>
                <c:pt idx="8">
                  <c:v>Other states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18.21</c:v>
                </c:pt>
                <c:pt idx="1">
                  <c:v>13.5</c:v>
                </c:pt>
                <c:pt idx="2">
                  <c:v>12.14</c:v>
                </c:pt>
                <c:pt idx="3">
                  <c:v>11.09</c:v>
                </c:pt>
                <c:pt idx="4">
                  <c:v>10.39</c:v>
                </c:pt>
                <c:pt idx="5">
                  <c:v>8.1999999999999993</c:v>
                </c:pt>
                <c:pt idx="6">
                  <c:v>7.1</c:v>
                </c:pt>
                <c:pt idx="7">
                  <c:v>4.99</c:v>
                </c:pt>
                <c:pt idx="8">
                  <c:v>14.38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E149-4F70-99FA-BE31036902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solidFill>
          <a:srgbClr val="111111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D0D0D0"/>
              </a:solidFill>
              <a:latin typeface="Consolas"/>
              <a:cs typeface="Consolas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11111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amount (%)</c:v>
                </c:pt>
              </c:strCache>
            </c:strRef>
          </c:tx>
          <c:spPr>
            <a:solidFill>
              <a:srgbClr val="F5E00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Consola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Maharashtra</c:v>
                </c:pt>
                <c:pt idx="1">
                  <c:v>Kerala</c:v>
                </c:pt>
                <c:pt idx="2">
                  <c:v>West Bengal</c:v>
                </c:pt>
                <c:pt idx="3">
                  <c:v>Karnataka</c:v>
                </c:pt>
                <c:pt idx="4">
                  <c:v>Tamil Nadu</c:v>
                </c:pt>
                <c:pt idx="5">
                  <c:v>Telangana</c:v>
                </c:pt>
                <c:pt idx="6">
                  <c:v>Gujarat</c:v>
                </c:pt>
                <c:pt idx="7">
                  <c:v>Rajasthan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18.21</c:v>
                </c:pt>
                <c:pt idx="1">
                  <c:v>13.5</c:v>
                </c:pt>
                <c:pt idx="2">
                  <c:v>12.14</c:v>
                </c:pt>
                <c:pt idx="3">
                  <c:v>11.09</c:v>
                </c:pt>
                <c:pt idx="4">
                  <c:v>10.39</c:v>
                </c:pt>
                <c:pt idx="5">
                  <c:v>8.1999999999999993</c:v>
                </c:pt>
                <c:pt idx="6">
                  <c:v>7.1</c:v>
                </c:pt>
                <c:pt idx="7">
                  <c:v>4.99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CB5-47EE-8F2D-6277A05F9A6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700000"/>
          <a:lstStyle/>
          <a:p>
            <a:pPr>
              <a:defRPr sz="1000" b="0" i="0" u="none" strike="noStrike">
                <a:solidFill>
                  <a:srgbClr val="D0D0D0"/>
                </a:solidFill>
                <a:latin typeface="Consola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2A2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D0D0D0"/>
                </a:solidFill>
                <a:latin typeface="Consola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11111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11111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Indexed demand</c:v>
                </c:pt>
              </c:strCache>
            </c:strRef>
          </c:tx>
          <c:spPr>
            <a:ln w="50800" cap="flat">
              <a:solidFill>
                <a:srgbClr val="FF1E8E"/>
              </a:solidFill>
              <a:prstDash val="solid"/>
              <a:round/>
            </a:ln>
            <a:effectLst/>
          </c:spPr>
          <c:marker>
            <c:symbol val="circle"/>
            <c:size val="9"/>
            <c:spPr>
              <a:solidFill>
                <a:srgbClr val="FF1E8E"/>
              </a:solidFill>
              <a:ln w="9525" cap="flat">
                <a:solidFill>
                  <a:srgbClr val="FF1E8E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Consola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58</c:v>
                </c:pt>
                <c:pt idx="1">
                  <c:v>66</c:v>
                </c:pt>
                <c:pt idx="2">
                  <c:v>96</c:v>
                </c:pt>
                <c:pt idx="3">
                  <c:v>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EC1-4009-A961-BD98C84823BD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D0D0D0"/>
                </a:solidFill>
                <a:latin typeface="Consola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2A2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D0D0D0"/>
                </a:solidFill>
                <a:latin typeface="Consola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11111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11111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148840"/>
            <a:ext cx="106984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5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defRPr>
            </a:lvl1pPr>
          </a:lstStyle>
          <a:p>
            <a:pPr marL="0" indent="0" algn="l">
              <a:buNone/>
            </a:pPr>
            <a:endParaRPr lang="en-US" sz="5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84048"/>
            <a:ext cx="1088136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FF1E8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560320"/>
            <a:ext cx="10515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defRPr>
            </a:lvl1pPr>
          </a:lstStyle>
          <a:p>
            <a:pPr marL="0" indent="0" algn="l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8447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E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Kicker highligh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1417320"/>
            <a:ext cx="3108960" cy="457200"/>
          </a:xfrm>
          <a:prstGeom prst="rect">
            <a:avLst/>
          </a:prstGeom>
          <a:solidFill>
            <a:srgbClr val="F5E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68680" y="14173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RECEIPT · FY REPORT</a:t>
            </a:r>
            <a:endParaRPr lang="en-US" sz="13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148840"/>
            <a:ext cx="106984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Online Food Delivery</a:t>
            </a:r>
            <a:endParaRPr lang="en-US" sz="5400" dirty="0"/>
          </a:p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Annual Report</a:t>
            </a:r>
            <a:endParaRPr lang="en-US" sz="5400" dirty="0"/>
          </a:p>
        </p:txBody>
      </p:sp>
      <p:sp>
        <p:nvSpPr>
          <p:cNvPr id="6" name="Divi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4160520"/>
            <a:ext cx="10698480" cy="27432"/>
          </a:xfrm>
          <a:prstGeom prst="rect">
            <a:avLst/>
          </a:prstGeom>
          <a:solidFill>
            <a:srgbClr val="FF1E8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31520" y="43434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read-through of the Power BI dashboard: 61,654 in total amount, 206 orders,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delivery channels, 4 months, and a nationwide shipping footprint.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052560" y="1463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AMOUNT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80960" y="173736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0" b="1" dirty="0">
                <a:solidFill>
                  <a:srgbClr val="FF1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61654</a:t>
            </a:r>
            <a:endParaRPr lang="en-US" sz="6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1+#ppt_h/2)+0.14416*(#ppt_y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1+#ppt_h/2)+0.27304*(#ppt_y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1+#ppt_h/2)+0.38576*(#ppt_y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1+#ppt_h/2)+0.48262*(#ppt_y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1+#ppt_h/2)+0.56479*(#ppt_y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1+#ppt_h/2)+0.63397*(#ppt_y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1+#ppt_h/2)+0.69198*(#ppt_y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1+#ppt_h/2)+0.74056*(#ppt_y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1+#ppt_h/2)+0.78128*(#ppt_y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1+#ppt_h/2)+0.81547*(#ppt_y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1+#ppt_h/2)+0.84426*(#ppt_y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1+#ppt_h/2)+0.86854*(#ppt_y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1+#ppt_h/2)+0.88909*(#ppt_y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1+#ppt_h/2)+0.90650*(#ppt_y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1+#ppt_h/2)+0.92128*(#ppt_y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1+#ppt_h/2)+0.93384*(#ppt_y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1+#ppt_h/2)+0.94453*(#ppt_y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1+#ppt_h/2)+0.95363*(#ppt_y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1+#ppt_h/2)+0.96137*(#ppt_y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1+#ppt_h/2)+0.96795*(#ppt_y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1+#ppt_h/2)+0.97356*(#ppt_y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1+#ppt_h/2)+0.97848*(#ppt_y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1+#ppt_h/2)+0.98283*(#ppt_y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1+#ppt_h/2)+0.98663*(#ppt_y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1+#ppt_h/2)+0.98993*(#ppt_y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1+#ppt_h/2)+0.99274*(#ppt_y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1+#ppt_h/2)+0.99510*(#ppt_y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1+#ppt_h/2)+0.99701*(#ppt_y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1+#ppt_h/2)+0.99848*(#ppt_y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1+#ppt_h/2)+0.99951*(#ppt_y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" presetClass="entr" presetSubtype="4" decel="50000" fill="hold" grpId="0" nodeType="withEffect">
                                  <p:stCondLst>
                                    <p:cond delay="57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1+#ppt_h/2)+0.14416*(#ppt_y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1+#ppt_h/2)+0.27304*(#ppt_y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1+#ppt_h/2)+0.38576*(#ppt_y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1+#ppt_h/2)+0.48262*(#ppt_y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1+#ppt_h/2)+0.56479*(#ppt_y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1+#ppt_h/2)+0.63397*(#ppt_y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1+#ppt_h/2)+0.69198*(#ppt_y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1+#ppt_h/2)+0.74056*(#ppt_y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1+#ppt_h/2)+0.78128*(#ppt_y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1+#ppt_h/2)+0.81547*(#ppt_y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1+#ppt_h/2)+0.84426*(#ppt_y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1+#ppt_h/2)+0.86854*(#ppt_y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1+#ppt_h/2)+0.88909*(#ppt_y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1+#ppt_h/2)+0.90650*(#ppt_y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1+#ppt_h/2)+0.92128*(#ppt_y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1+#ppt_h/2)+0.93384*(#ppt_y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1+#ppt_h/2)+0.94453*(#ppt_y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1+#ppt_h/2)+0.95363*(#ppt_y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1+#ppt_h/2)+0.96137*(#ppt_y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1+#ppt_h/2)+0.96795*(#ppt_y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1+#ppt_h/2)+0.97356*(#ppt_y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1+#ppt_h/2)+0.97848*(#ppt_y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1+#ppt_h/2)+0.98283*(#ppt_y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1+#ppt_h/2)+0.98663*(#ppt_y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1+#ppt_h/2)+0.98993*(#ppt_y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1+#ppt_h/2)+0.99274*(#ppt_y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1+#ppt_h/2)+0.99510*(#ppt_y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1+#ppt_h/2)+0.99701*(#ppt_y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1+#ppt_h/2)+0.99848*(#ppt_y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1+#ppt_h/2)+0.99951*(#ppt_y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decel="50000" fill="hold" grpId="0" nodeType="withEffect">
                                  <p:stCondLst>
                                    <p:cond delay="114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1+#ppt_h/2)+0.14416*(#ppt_y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1+#ppt_h/2)+0.27304*(#ppt_y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1+#ppt_h/2)+0.38576*(#ppt_y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1+#ppt_h/2)+0.48262*(#ppt_y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1+#ppt_h/2)+0.56479*(#ppt_y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1+#ppt_h/2)+0.63397*(#ppt_y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1+#ppt_h/2)+0.69198*(#ppt_y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1+#ppt_h/2)+0.74056*(#ppt_y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1+#ppt_h/2)+0.78128*(#ppt_y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1+#ppt_h/2)+0.81547*(#ppt_y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1+#ppt_h/2)+0.84426*(#ppt_y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1+#ppt_h/2)+0.86854*(#ppt_y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1+#ppt_h/2)+0.88909*(#ppt_y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1+#ppt_h/2)+0.90650*(#ppt_y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1+#ppt_h/2)+0.92128*(#ppt_y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1+#ppt_h/2)+0.93384*(#ppt_y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1+#ppt_h/2)+0.94453*(#ppt_y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1+#ppt_h/2)+0.95363*(#ppt_y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1+#ppt_h/2)+0.96137*(#ppt_y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1+#ppt_h/2)+0.96795*(#ppt_y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1+#ppt_h/2)+0.97356*(#ppt_y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1+#ppt_h/2)+0.97848*(#ppt_y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1+#ppt_h/2)+0.98283*(#ppt_y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1+#ppt_h/2)+0.98663*(#ppt_y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1+#ppt_h/2)+0.98993*(#ppt_y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1+#ppt_h/2)+0.99274*(#ppt_y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1+#ppt_h/2)+0.99510*(#ppt_y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1+#ppt_h/2)+0.99701*(#ppt_y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1+#ppt_h/2)+0.99848*(#ppt_y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1+#ppt_h/2)+0.99951*(#ppt_y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decel="50000" fill="hold" grpId="0" nodeType="withEffect">
                                  <p:stCondLst>
                                    <p:cond delay="171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1+#ppt_h/2)+0.14416*(#ppt_y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1+#ppt_h/2)+0.27304*(#ppt_y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1+#ppt_h/2)+0.38576*(#ppt_y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1+#ppt_h/2)+0.48262*(#ppt_y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1+#ppt_h/2)+0.56479*(#ppt_y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1+#ppt_h/2)+0.63397*(#ppt_y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1+#ppt_h/2)+0.69198*(#ppt_y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1+#ppt_h/2)+0.74056*(#ppt_y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1+#ppt_h/2)+0.78128*(#ppt_y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1+#ppt_h/2)+0.81547*(#ppt_y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1+#ppt_h/2)+0.84426*(#ppt_y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1+#ppt_h/2)+0.86854*(#ppt_y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1+#ppt_h/2)+0.88909*(#ppt_y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1+#ppt_h/2)+0.90650*(#ppt_y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1+#ppt_h/2)+0.92128*(#ppt_y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1+#ppt_h/2)+0.93384*(#ppt_y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1+#ppt_h/2)+0.94453*(#ppt_y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1+#ppt_h/2)+0.95363*(#ppt_y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1+#ppt_h/2)+0.96137*(#ppt_y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1+#ppt_h/2)+0.96795*(#ppt_y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1+#ppt_h/2)+0.97356*(#ppt_y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1+#ppt_h/2)+0.97848*(#ppt_y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1+#ppt_h/2)+0.98283*(#ppt_y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1+#ppt_h/2)+0.98663*(#ppt_y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1+#ppt_h/2)+0.98993*(#ppt_y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1+#ppt_h/2)+0.99274*(#ppt_y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1+#ppt_h/2)+0.99510*(#ppt_y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1+#ppt_h/2)+0.99701*(#ppt_y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1+#ppt_h/2)+0.99848*(#ppt_y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1+#ppt_h/2)+0.99951*(#ppt_y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decel="50000" fill="hold" grpId="0" nodeType="withEffect">
                                  <p:stCondLst>
                                    <p:cond delay="22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1+#ppt_h/2)+0.14416*(#ppt_y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1+#ppt_h/2)+0.27304*(#ppt_y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1+#ppt_h/2)+0.38576*(#ppt_y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1+#ppt_h/2)+0.48262*(#ppt_y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1+#ppt_h/2)+0.56479*(#ppt_y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1+#ppt_h/2)+0.63397*(#ppt_y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1+#ppt_h/2)+0.69198*(#ppt_y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1+#ppt_h/2)+0.74056*(#ppt_y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1+#ppt_h/2)+0.78128*(#ppt_y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1+#ppt_h/2)+0.81547*(#ppt_y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1+#ppt_h/2)+0.84426*(#ppt_y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1+#ppt_h/2)+0.86854*(#ppt_y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1+#ppt_h/2)+0.88909*(#ppt_y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1+#ppt_h/2)+0.90650*(#ppt_y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1+#ppt_h/2)+0.92128*(#ppt_y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1+#ppt_h/2)+0.93384*(#ppt_y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1+#ppt_h/2)+0.94453*(#ppt_y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1+#ppt_h/2)+0.95363*(#ppt_y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1+#ppt_h/2)+0.96137*(#ppt_y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1+#ppt_h/2)+0.96795*(#ppt_y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1+#ppt_h/2)+0.97356*(#ppt_y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1+#ppt_h/2)+0.97848*(#ppt_y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1+#ppt_h/2)+0.98283*(#ppt_y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1+#ppt_h/2)+0.98663*(#ppt_y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1+#ppt_h/2)+0.98993*(#ppt_y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1+#ppt_h/2)+0.99274*(#ppt_y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1+#ppt_h/2)+0.99510*(#ppt_y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1+#ppt_h/2)+0.99701*(#ppt_y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1+#ppt_h/2)+0.99848*(#ppt_y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1+#ppt_h/2)+0.99951*(#ppt_y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decel="50000" fill="hold" grpId="0" nodeType="withEffect">
                                  <p:stCondLst>
                                    <p:cond delay="285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1+#ppt_h/2)+0.14416*(#ppt_y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1+#ppt_h/2)+0.27304*(#ppt_y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1+#ppt_h/2)+0.38576*(#ppt_y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1+#ppt_h/2)+0.48262*(#ppt_y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1+#ppt_h/2)+0.56479*(#ppt_y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1+#ppt_h/2)+0.63397*(#ppt_y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1+#ppt_h/2)+0.69198*(#ppt_y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1+#ppt_h/2)+0.74056*(#ppt_y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1+#ppt_h/2)+0.78128*(#ppt_y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1+#ppt_h/2)+0.81547*(#ppt_y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1+#ppt_h/2)+0.84426*(#ppt_y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1+#ppt_h/2)+0.86854*(#ppt_y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1+#ppt_h/2)+0.88909*(#ppt_y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1+#ppt_h/2)+0.90650*(#ppt_y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1+#ppt_h/2)+0.92128*(#ppt_y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1+#ppt_h/2)+0.93384*(#ppt_y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1+#ppt_h/2)+0.94453*(#ppt_y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1+#ppt_h/2)+0.95363*(#ppt_y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1+#ppt_h/2)+0.96137*(#ppt_y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1+#ppt_h/2)+0.96795*(#ppt_y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1+#ppt_h/2)+0.97356*(#ppt_y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1+#ppt_h/2)+0.97848*(#ppt_y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1+#ppt_h/2)+0.98283*(#ppt_y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1+#ppt_h/2)+0.98663*(#ppt_y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1+#ppt_h/2)+0.98993*(#ppt_y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1+#ppt_h/2)+0.99274*(#ppt_y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1+#ppt_h/2)+0.99510*(#ppt_y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1+#ppt_h/2)+0.99701*(#ppt_y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1+#ppt_h/2)+0.99848*(#ppt_y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1+#ppt_h/2)+0.99951*(#ppt_y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decel="50000" fill="hold" grpId="0" nodeType="withEffect">
                                  <p:stCondLst>
                                    <p:cond delay="342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1+#ppt_h/2)+0.14416*(#ppt_y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1+#ppt_h/2)+0.27304*(#ppt_y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1+#ppt_h/2)+0.38576*(#ppt_y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1+#ppt_h/2)+0.48262*(#ppt_y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1+#ppt_h/2)+0.56479*(#ppt_y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1+#ppt_h/2)+0.63397*(#ppt_y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1+#ppt_h/2)+0.69198*(#ppt_y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1+#ppt_h/2)+0.74056*(#ppt_y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1+#ppt_h/2)+0.78128*(#ppt_y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1+#ppt_h/2)+0.81547*(#ppt_y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1+#ppt_h/2)+0.84426*(#ppt_y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1+#ppt_h/2)+0.86854*(#ppt_y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1+#ppt_h/2)+0.88909*(#ppt_y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1+#ppt_h/2)+0.90650*(#ppt_y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1+#ppt_h/2)+0.92128*(#ppt_y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1+#ppt_h/2)+0.93384*(#ppt_y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1+#ppt_h/2)+0.94453*(#ppt_y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1+#ppt_h/2)+0.95363*(#ppt_y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1+#ppt_h/2)+0.96137*(#ppt_y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1+#ppt_h/2)+0.96795*(#ppt_y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1+#ppt_h/2)+0.97356*(#ppt_y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1+#ppt_h/2)+0.97848*(#ppt_y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1+#ppt_h/2)+0.98283*(#ppt_y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1+#ppt_h/2)+0.98663*(#ppt_y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1+#ppt_h/2)+0.98993*(#ppt_y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1+#ppt_h/2)+0.99274*(#ppt_y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1+#ppt_h/2)+0.99510*(#ppt_y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1+#ppt_h/2)+0.99701*(#ppt_y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1+#ppt_h/2)+0.99848*(#ppt_y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1+#ppt_h/2)+0.99951*(#ppt_y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decel="50000" fill="hold" grpId="0" nodeType="withEffect">
                                  <p:stCondLst>
                                    <p:cond delay="399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1+#ppt_h/2)+0.14416*(#ppt_y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1+#ppt_h/2)+0.27304*(#ppt_y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1+#ppt_h/2)+0.38576*(#ppt_y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1+#ppt_h/2)+0.48262*(#ppt_y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1+#ppt_h/2)+0.56479*(#ppt_y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1+#ppt_h/2)+0.63397*(#ppt_y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1+#ppt_h/2)+0.69198*(#ppt_y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1+#ppt_h/2)+0.74056*(#ppt_y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1+#ppt_h/2)+0.78128*(#ppt_y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1+#ppt_h/2)+0.81547*(#ppt_y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1+#ppt_h/2)+0.84426*(#ppt_y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1+#ppt_h/2)+0.86854*(#ppt_y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1+#ppt_h/2)+0.88909*(#ppt_y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1+#ppt_h/2)+0.90650*(#ppt_y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1+#ppt_h/2)+0.92128*(#ppt_y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1+#ppt_h/2)+0.93384*(#ppt_y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1+#ppt_h/2)+0.94453*(#ppt_y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1+#ppt_h/2)+0.95363*(#ppt_y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1+#ppt_h/2)+0.96137*(#ppt_y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1+#ppt_h/2)+0.96795*(#ppt_y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1+#ppt_h/2)+0.97356*(#ppt_y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1+#ppt_h/2)+0.97848*(#ppt_y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1+#ppt_h/2)+0.98283*(#ppt_y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1+#ppt_h/2)+0.98663*(#ppt_y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1+#ppt_h/2)+0.98993*(#ppt_y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1+#ppt_h/2)+0.99274*(#ppt_y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1+#ppt_h/2)+0.99510*(#ppt_y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1+#ppt_h/2)+0.99701*(#ppt_y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1+#ppt_h/2)+0.99848*(#ppt_y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1+#ppt_h/2)+0.99951*(#ppt_y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840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source: one Power BI page, six views</a:t>
            </a:r>
            <a:endParaRPr lang="en-US" sz="2800" dirty="0"/>
          </a:p>
        </p:txBody>
      </p:sp>
      <p:sp>
        <p:nvSpPr>
          <p:cNvPr id="3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E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itle under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207008"/>
            <a:ext cx="1371600" cy="41148"/>
          </a:xfrm>
          <a:prstGeom prst="rect">
            <a:avLst/>
          </a:prstGeom>
          <a:solidFill>
            <a:srgbClr val="FF1E8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62362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 OVERVIEW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64240" y="623620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5E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 dirty="0"/>
          </a:p>
        </p:txBody>
      </p:sp>
      <p:pic>
        <p:nvPicPr>
          <p:cNvPr id="7" name="Image 0" descr="Power BI dashboard titled Online Food Delivery Annual Report showing channel and category slicers, a 61654 total amount card, a donut of amount by ship-postal-code and ship-state, a line chart of category count and amount by month, and a pie of quantity by channel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71638"/>
            <a:ext cx="7223760" cy="4063365"/>
          </a:xfrm>
          <a:prstGeom prst="rect">
            <a:avLst/>
          </a:prstGeom>
        </p:spPr>
      </p:pic>
      <p:sp>
        <p:nvSpPr>
          <p:cNvPr id="8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0" y="1463040"/>
            <a:ext cx="3291840" cy="4480560"/>
          </a:xfrm>
          <a:prstGeom prst="rect">
            <a:avLst/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0" y="1463040"/>
            <a:ext cx="54864" cy="4480560"/>
          </a:xfrm>
          <a:prstGeom prst="rect">
            <a:avLst/>
          </a:prstGeom>
          <a:solidFill>
            <a:srgbClr val="FF1E8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8485632" y="16916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E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What's on the page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485632" y="2148840"/>
            <a:ext cx="28346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Channel slicer (8 values)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 slicer (9+ values)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KPI card: total amount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Donut: amount by ship-state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Line: count &amp; amount by month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Pie: quantity by channel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50000" fill="hold" grpId="0" nodeType="withEffect">
                                  <p:stCondLst>
                                    <p:cond delay="77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50000" fill="hold" grpId="0" nodeType="withEffect">
                                  <p:stCondLst>
                                    <p:cond delay="154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50000" fill="hold" grpId="0" nodeType="withEffect">
                                  <p:stCondLst>
                                    <p:cond delay="231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50000" fill="hold" grpId="0" nodeType="withEffect">
                                  <p:stCondLst>
                                    <p:cond delay="308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50000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50000" fill="hold" grpId="0" nodeType="withEffect">
                                  <p:stCondLst>
                                    <p:cond delay="462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50000" fill="hold" grpId="0" nodeType="withEffect">
                                  <p:stCondLst>
                                    <p:cond delay="539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50000" fill="hold" grpId="0" nodeType="withEffect">
                                  <p:stCondLst>
                                    <p:cond delay="616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50000" fill="hold" grpId="0" nodeType="withEffect">
                                  <p:stCondLst>
                                    <p:cond delay="693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840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Four numbers carry the whole report</a:t>
            </a:r>
            <a:endParaRPr lang="en-US" sz="2800" dirty="0"/>
          </a:p>
        </p:txBody>
      </p:sp>
      <p:sp>
        <p:nvSpPr>
          <p:cNvPr id="3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E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itle under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207008"/>
            <a:ext cx="1371600" cy="41148"/>
          </a:xfrm>
          <a:prstGeom prst="rect">
            <a:avLst/>
          </a:prstGeom>
          <a:solidFill>
            <a:srgbClr val="FF1E8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62362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HEADLINE METRICS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64240" y="623620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5E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7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600200"/>
            <a:ext cx="2514600" cy="1691640"/>
          </a:xfrm>
          <a:prstGeom prst="rect">
            <a:avLst/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600200"/>
            <a:ext cx="54864" cy="1691640"/>
          </a:xfrm>
          <a:prstGeom prst="rect">
            <a:avLst/>
          </a:prstGeom>
          <a:solidFill>
            <a:srgbClr val="FF1E8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96112" y="1801368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5E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61654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896112" y="267919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SUM OF AMOUNT</a:t>
            </a:r>
            <a:endParaRPr lang="en-US" sz="1100" dirty="0"/>
          </a:p>
        </p:txBody>
      </p:sp>
      <p:sp>
        <p:nvSpPr>
          <p:cNvPr id="11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37560" y="1600200"/>
            <a:ext cx="2514600" cy="1691640"/>
          </a:xfrm>
          <a:prstGeom prst="rect">
            <a:avLst/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37560" y="1600200"/>
            <a:ext cx="54864" cy="1691640"/>
          </a:xfrm>
          <a:prstGeom prst="rect">
            <a:avLst/>
          </a:prstGeom>
          <a:solidFill>
            <a:srgbClr val="FF1E8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593592" y="1801368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1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206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3593592" y="267919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QUANTITY SOLD</a:t>
            </a:r>
            <a:endParaRPr lang="en-US" sz="1100" dirty="0"/>
          </a:p>
        </p:txBody>
      </p:sp>
      <p:sp>
        <p:nvSpPr>
          <p:cNvPr id="15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35040" y="1600200"/>
            <a:ext cx="2514600" cy="1691640"/>
          </a:xfrm>
          <a:prstGeom prst="rect">
            <a:avLst/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35040" y="1600200"/>
            <a:ext cx="54864" cy="1691640"/>
          </a:xfrm>
          <a:prstGeom prst="rect">
            <a:avLst/>
          </a:prstGeom>
          <a:solidFill>
            <a:srgbClr val="FF1E8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291072" y="1801368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5E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6291072" y="267919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DELIVERY CHANNELS</a:t>
            </a:r>
            <a:endParaRPr lang="en-US" sz="1100" dirty="0"/>
          </a:p>
        </p:txBody>
      </p:sp>
      <p:sp>
        <p:nvSpPr>
          <p:cNvPr id="19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32520" y="1600200"/>
            <a:ext cx="2788920" cy="1691640"/>
          </a:xfrm>
          <a:prstGeom prst="rect">
            <a:avLst/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32520" y="1600200"/>
            <a:ext cx="54864" cy="1691640"/>
          </a:xfrm>
          <a:prstGeom prst="rect">
            <a:avLst/>
          </a:prstGeom>
          <a:solidFill>
            <a:srgbClr val="FF1E8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8988552" y="1801368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1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8988552" y="267919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MONTHS COVERED</a:t>
            </a:r>
            <a:endParaRPr lang="en-US" sz="1100" dirty="0"/>
          </a:p>
        </p:txBody>
      </p:sp>
      <p:sp>
        <p:nvSpPr>
          <p:cNvPr id="23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611880"/>
            <a:ext cx="10881360" cy="2194560"/>
          </a:xfrm>
          <a:prstGeom prst="rect">
            <a:avLst/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611880"/>
            <a:ext cx="54864" cy="2194560"/>
          </a:xfrm>
          <a:prstGeom prst="rect">
            <a:avLst/>
          </a:prstGeom>
          <a:solidFill>
            <a:srgbClr val="FF1E8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914400" y="3840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E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 it this way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14400" y="4297680"/>
            <a:ext cx="10332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Average order value sits near 299 per unit — 61,654 spread across 206 units.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Two channels carry more than half of all volume; the other six split the rest.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Demand is not flat: March is the peak month and April falls away sharply.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 fill="hold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 fill="hold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 fill="hold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 fill="hold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 fill="hold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 fill="hold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 fill="hold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 fill="hold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 fill="hold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 fill="hold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 fill="hold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840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this deck covers</a:t>
            </a:r>
            <a:endParaRPr lang="en-US" sz="2800" dirty="0"/>
          </a:p>
        </p:txBody>
      </p:sp>
      <p:sp>
        <p:nvSpPr>
          <p:cNvPr id="3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E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itle under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207008"/>
            <a:ext cx="1371600" cy="41148"/>
          </a:xfrm>
          <a:prstGeom prst="rect">
            <a:avLst/>
          </a:prstGeom>
          <a:solidFill>
            <a:srgbClr val="FF1E8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62362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64240" y="623620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5E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7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600200"/>
            <a:ext cx="10881360" cy="1024128"/>
          </a:xfrm>
          <a:prstGeom prst="rect">
            <a:avLst/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600200"/>
            <a:ext cx="54864" cy="1024128"/>
          </a:xfrm>
          <a:prstGeom prst="rect">
            <a:avLst/>
          </a:prstGeom>
          <a:solidFill>
            <a:srgbClr val="FF1E8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914400" y="1764792"/>
            <a:ext cx="822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E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783080" y="1764792"/>
            <a:ext cx="3931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demand comes from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806440" y="1764792"/>
            <a:ext cx="5486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BBB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Quantity by channel, the aggregator duopoly, and the challenger tier.</a:t>
            </a:r>
            <a:endParaRPr lang="en-US" sz="1200" dirty="0"/>
          </a:p>
        </p:txBody>
      </p:sp>
      <p:sp>
        <p:nvSpPr>
          <p:cNvPr id="12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770632"/>
            <a:ext cx="10881360" cy="1024128"/>
          </a:xfrm>
          <a:prstGeom prst="rect">
            <a:avLst/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770632"/>
            <a:ext cx="54864" cy="1024128"/>
          </a:xfrm>
          <a:prstGeom prst="rect">
            <a:avLst/>
          </a:prstGeom>
          <a:solidFill>
            <a:srgbClr val="FF1E8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914400" y="2935224"/>
            <a:ext cx="822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E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783080" y="2935224"/>
            <a:ext cx="3931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the orders ship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806440" y="2935224"/>
            <a:ext cx="5486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BBB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Amount by ship-state and the five regions that set the tone.</a:t>
            </a:r>
            <a:endParaRPr lang="en-US" sz="1200" dirty="0"/>
          </a:p>
        </p:txBody>
      </p:sp>
      <p:sp>
        <p:nvSpPr>
          <p:cNvPr id="17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941064"/>
            <a:ext cx="10881360" cy="1024128"/>
          </a:xfrm>
          <a:prstGeom prst="rect">
            <a:avLst/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941064"/>
            <a:ext cx="54864" cy="1024128"/>
          </a:xfrm>
          <a:prstGeom prst="rect">
            <a:avLst/>
          </a:prstGeom>
          <a:solidFill>
            <a:srgbClr val="FF1E8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914400" y="4105656"/>
            <a:ext cx="822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E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1783080" y="4105656"/>
            <a:ext cx="3931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demand moved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806440" y="4105656"/>
            <a:ext cx="5486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BBB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monthly curve, the March peak, and four reads on the April drop.</a:t>
            </a:r>
            <a:endParaRPr lang="en-US" sz="1200" dirty="0"/>
          </a:p>
        </p:txBody>
      </p:sp>
      <p:sp>
        <p:nvSpPr>
          <p:cNvPr id="22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5111496"/>
            <a:ext cx="10881360" cy="1024128"/>
          </a:xfrm>
          <a:prstGeom prst="rect">
            <a:avLst/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5111496"/>
            <a:ext cx="54864" cy="1024128"/>
          </a:xfrm>
          <a:prstGeom prst="rect">
            <a:avLst/>
          </a:prstGeom>
          <a:solidFill>
            <a:srgbClr val="FF1E8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914400" y="5276088"/>
            <a:ext cx="822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E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1783080" y="5276088"/>
            <a:ext cx="3931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to do next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5806440" y="5276088"/>
            <a:ext cx="5486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BBB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 mix, data-quality fixes, and three moves for the quarter.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 fill="hold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 fill="hold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 fill="hold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 fill="hold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 fill="hold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 fill="hold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 fill="hold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 fill="hold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840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Quantity by channel: a two-horse race</a:t>
            </a:r>
            <a:endParaRPr lang="en-US" sz="2800" dirty="0"/>
          </a:p>
        </p:txBody>
      </p:sp>
      <p:sp>
        <p:nvSpPr>
          <p:cNvPr id="3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E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itle under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207008"/>
            <a:ext cx="1371600" cy="41148"/>
          </a:xfrm>
          <a:prstGeom prst="rect">
            <a:avLst/>
          </a:prstGeom>
          <a:solidFill>
            <a:srgbClr val="FF1E8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62362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 OF QTY BY CHANNEL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64240" y="623620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5E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  <p:graphicFrame>
        <p:nvGraphicFramePr>
          <p:cNvPr id="7" name="Quantity by channel pie chart" descr="Pie chart of quantity by channel: Swiggy 58 units (28.2%), Zomato 54 (26.1%), EatSure 21 (10.1%), Magicpin 17 (8.2%), Domino's 16 (7.8%), Burger King 15 (7.3%), Channel 13 (6.3%), KFC 12 (5.8%)."/>
          <p:cNvGraphicFramePr/>
          <p:nvPr/>
        </p:nvGraphicFramePr>
        <p:xfrm>
          <a:off x="548640" y="1463040"/>
          <a:ext cx="676656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80960" y="1463040"/>
            <a:ext cx="3840480" cy="4480560"/>
          </a:xfrm>
          <a:prstGeom prst="rect">
            <a:avLst/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80960" y="1463040"/>
            <a:ext cx="54864" cy="4480560"/>
          </a:xfrm>
          <a:prstGeom prst="rect">
            <a:avLst/>
          </a:prstGeom>
          <a:solidFill>
            <a:srgbClr val="FF1E8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7955280" y="169164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5E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58 + 54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7955280" y="246888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units come from Swiggy and Zomato alone — 54.2% of everything sold.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955280" y="3474720"/>
            <a:ext cx="33832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Swiggy leads at 28.2%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Zomato close behind at 26.1%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third channel clears 11%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KFC is smallest at 5.8%</a:t>
            </a:r>
            <a:endParaRPr lang="en-US" sz="1200" dirty="0"/>
          </a:p>
        </p:txBody>
      </p:sp>
    </p:spTree>
  </p:cSld>
  <p:clrMapOvr>
    <a:masterClrMapping/>
  </p:clrMapOvr>
  <p:transition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840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aggregator duopoly owns the customer</a:t>
            </a:r>
            <a:endParaRPr lang="en-US" sz="2800" dirty="0"/>
          </a:p>
        </p:txBody>
      </p:sp>
      <p:sp>
        <p:nvSpPr>
          <p:cNvPr id="3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E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itle under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207008"/>
            <a:ext cx="1371600" cy="41148"/>
          </a:xfrm>
          <a:prstGeom prst="rect">
            <a:avLst/>
          </a:prstGeom>
          <a:solidFill>
            <a:srgbClr val="FF1E8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62362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CHANNEL CONCENTRATION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64240" y="623620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5E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00" dirty="0"/>
          </a:p>
        </p:txBody>
      </p:sp>
      <p:sp>
        <p:nvSpPr>
          <p:cNvPr id="7" name="Swiggy+Zomato shar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691640"/>
            <a:ext cx="6126480" cy="685800"/>
          </a:xfrm>
          <a:prstGeom prst="rect">
            <a:avLst/>
          </a:prstGeom>
          <a:solidFill>
            <a:srgbClr val="F5E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Remaining shar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0" y="1691640"/>
            <a:ext cx="4754880" cy="685800"/>
          </a:xfrm>
          <a:prstGeom prst="rect">
            <a:avLst/>
          </a:prstGeom>
          <a:solidFill>
            <a:srgbClr val="2E2E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22960" y="169164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SWIGGY + ZOMATO  54.2%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949440" y="169164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SIX OTHER CHANNELS  45.8%</a:t>
            </a:r>
            <a:endParaRPr lang="en-US" sz="1600" dirty="0"/>
          </a:p>
        </p:txBody>
      </p:sp>
      <p:sp>
        <p:nvSpPr>
          <p:cNvPr id="11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743200"/>
            <a:ext cx="2606040" cy="2514600"/>
          </a:xfrm>
          <a:prstGeom prst="rect">
            <a:avLst/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743200"/>
            <a:ext cx="54864" cy="2514600"/>
          </a:xfrm>
          <a:prstGeom prst="rect">
            <a:avLst/>
          </a:prstGeom>
          <a:solidFill>
            <a:srgbClr val="FF1E8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96112" y="2971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1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REACH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96112" y="342900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Two platforms put the brand in front of nearly every ordering customer.</a:t>
            </a:r>
            <a:endParaRPr lang="en-US" sz="1200" dirty="0"/>
          </a:p>
        </p:txBody>
      </p:sp>
      <p:sp>
        <p:nvSpPr>
          <p:cNvPr id="15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29000" y="2743200"/>
            <a:ext cx="2606040" cy="2514600"/>
          </a:xfrm>
          <a:prstGeom prst="rect">
            <a:avLst/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29000" y="2743200"/>
            <a:ext cx="54864" cy="2514600"/>
          </a:xfrm>
          <a:prstGeom prst="rect">
            <a:avLst/>
          </a:prstGeom>
          <a:solidFill>
            <a:srgbClr val="FF1E8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685032" y="2971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1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85032" y="342900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Commission changes or an outage on either platform hits half of volume.</a:t>
            </a:r>
            <a:endParaRPr lang="en-US" sz="1200" dirty="0"/>
          </a:p>
        </p:txBody>
      </p:sp>
      <p:sp>
        <p:nvSpPr>
          <p:cNvPr id="19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0" y="2743200"/>
            <a:ext cx="2606040" cy="2514600"/>
          </a:xfrm>
          <a:prstGeom prst="rect">
            <a:avLst/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0" y="2743200"/>
            <a:ext cx="54864" cy="2514600"/>
          </a:xfrm>
          <a:prstGeom prst="rect">
            <a:avLst/>
          </a:prstGeom>
          <a:solidFill>
            <a:srgbClr val="FF1E8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473952" y="2971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1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73952" y="342900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 identity sits with the aggregator, not with the kitchen.</a:t>
            </a:r>
            <a:endParaRPr lang="en-US" sz="1200" dirty="0"/>
          </a:p>
        </p:txBody>
      </p:sp>
      <p:sp>
        <p:nvSpPr>
          <p:cNvPr id="23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006840" y="2743200"/>
            <a:ext cx="2606040" cy="2514600"/>
          </a:xfrm>
          <a:prstGeom prst="rect">
            <a:avLst/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006840" y="2743200"/>
            <a:ext cx="54864" cy="2514600"/>
          </a:xfrm>
          <a:prstGeom prst="rect">
            <a:avLst/>
          </a:prstGeom>
          <a:solidFill>
            <a:srgbClr val="FF1E8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9262872" y="2971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1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262872" y="342900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Grow direct and challenger channels toward a third of total volume.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50000" fill="hold" grpId="0" nodeType="with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5000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5000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5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5000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5000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5000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5000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decel="5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8" decel="5000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8" decel="5000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8" decel="5000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8" decel="5000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8" decel="5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8" decel="5000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8" decel="5000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8" decel="5000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8" decel="50000" fill="hold" grpId="0" nodeType="with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8" decel="5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8" decel="5000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8" decel="5000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8" decel="5000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8" decel="5000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w/2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w/2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w/2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w/2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w/2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w/2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w/2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w/2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w/2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w/2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w/2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w/2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w/2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w/2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w/2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w/2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w/2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w/2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w/2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w/2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w/2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w/2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w/2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w/2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w/2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w/2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w/2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w/2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w/2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w/2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840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challenger tier is tightly bunched</a:t>
            </a:r>
            <a:endParaRPr lang="en-US" sz="2800" dirty="0"/>
          </a:p>
        </p:txBody>
      </p:sp>
      <p:sp>
        <p:nvSpPr>
          <p:cNvPr id="3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E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itle under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207008"/>
            <a:ext cx="1371600" cy="41148"/>
          </a:xfrm>
          <a:prstGeom prst="rect">
            <a:avLst/>
          </a:prstGeom>
          <a:solidFill>
            <a:srgbClr val="FF1E8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62362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CHANNELS 3 TO 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64240" y="623620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5E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000" dirty="0"/>
          </a:p>
        </p:txBody>
      </p:sp>
      <p:graphicFrame>
        <p:nvGraphicFramePr>
          <p:cNvPr id="7" name="Challenger channel units bar chart" descr="Bar chart of units for the six smaller channels: EatSure 21, Magicpin 17, Domino's 16, Burger King 15, Channel 13, KFC 12."/>
          <p:cNvGraphicFramePr/>
          <p:nvPr/>
        </p:nvGraphicFramePr>
        <p:xfrm>
          <a:off x="548640" y="1554480"/>
          <a:ext cx="69494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63840" y="1554480"/>
            <a:ext cx="3657600" cy="4206240"/>
          </a:xfrm>
          <a:prstGeom prst="rect">
            <a:avLst/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63840" y="1554480"/>
            <a:ext cx="54864" cy="4206240"/>
          </a:xfrm>
          <a:prstGeom prst="rect">
            <a:avLst/>
          </a:prstGeom>
          <a:solidFill>
            <a:srgbClr val="FF1E8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8119872" y="17830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E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units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8119872" y="246888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separate the third-place channel from the eighth. Rank order here is fragile.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119872" y="3566160"/>
            <a:ext cx="3200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EatSure leads the chasing pack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QSR brands cluster at 12-16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Small promo shifts could reorder the tier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h/2)+0.14416*(#ppt_y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h/2)+0.27304*(#ppt_y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h/2)+0.38576*(#ppt_y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h/2)+0.48262*(#ppt_y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h/2)+0.56479*(#ppt_y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h/2)+0.63397*(#ppt_y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h/2)+0.69198*(#ppt_y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h/2)+0.74056*(#ppt_y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h/2)+0.78128*(#ppt_y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h/2)+0.81547*(#ppt_y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h/2)+0.84426*(#ppt_y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h/2)+0.86854*(#ppt_y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h/2)+0.88909*(#ppt_y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h/2)+0.90650*(#ppt_y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h/2)+0.92128*(#ppt_y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h/2)+0.93384*(#ppt_y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h/2)+0.94453*(#ppt_y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h/2)+0.95363*(#ppt_y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h/2)+0.96137*(#ppt_y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h/2)+0.96795*(#ppt_y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h/2)+0.97356*(#ppt_y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h/2)+0.97848*(#ppt_y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h/2)+0.98283*(#ppt_y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h/2)+0.98663*(#ppt_y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h/2)+0.98993*(#ppt_y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h/2)+0.99274*(#ppt_y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h/2)+0.99510*(#ppt_y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h/2)+0.99701*(#ppt_y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h/2)+0.99848*(#ppt_y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h/2)+0.99951*(#ppt_y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" presetClass="entr" presetSubtype="1" decel="5000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h/2)+0.14416*(#ppt_y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h/2)+0.27304*(#ppt_y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h/2)+0.38576*(#ppt_y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h/2)+0.48262*(#ppt_y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h/2)+0.56479*(#ppt_y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h/2)+0.63397*(#ppt_y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h/2)+0.69198*(#ppt_y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h/2)+0.74056*(#ppt_y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h/2)+0.78128*(#ppt_y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h/2)+0.81547*(#ppt_y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h/2)+0.84426*(#ppt_y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h/2)+0.86854*(#ppt_y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h/2)+0.88909*(#ppt_y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h/2)+0.90650*(#ppt_y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h/2)+0.92128*(#ppt_y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h/2)+0.93384*(#ppt_y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h/2)+0.94453*(#ppt_y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h/2)+0.95363*(#ppt_y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h/2)+0.96137*(#ppt_y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h/2)+0.96795*(#ppt_y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h/2)+0.97356*(#ppt_y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h/2)+0.97848*(#ppt_y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h/2)+0.98283*(#ppt_y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h/2)+0.98663*(#ppt_y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h/2)+0.98993*(#ppt_y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h/2)+0.99274*(#ppt_y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h/2)+0.99510*(#ppt_y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h/2)+0.99701*(#ppt_y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h/2)+0.99848*(#ppt_y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h/2)+0.99951*(#ppt_y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1" decel="5000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h/2)+0.14416*(#ppt_y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h/2)+0.27304*(#ppt_y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h/2)+0.38576*(#ppt_y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h/2)+0.48262*(#ppt_y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h/2)+0.56479*(#ppt_y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h/2)+0.63397*(#ppt_y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h/2)+0.69198*(#ppt_y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h/2)+0.74056*(#ppt_y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h/2)+0.78128*(#ppt_y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h/2)+0.81547*(#ppt_y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h/2)+0.84426*(#ppt_y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h/2)+0.86854*(#ppt_y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h/2)+0.88909*(#ppt_y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h/2)+0.90650*(#ppt_y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h/2)+0.92128*(#ppt_y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h/2)+0.93384*(#ppt_y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h/2)+0.94453*(#ppt_y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h/2)+0.95363*(#ppt_y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h/2)+0.96137*(#ppt_y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h/2)+0.96795*(#ppt_y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h/2)+0.97356*(#ppt_y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h/2)+0.97848*(#ppt_y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h/2)+0.98283*(#ppt_y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h/2)+0.98663*(#ppt_y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h/2)+0.98993*(#ppt_y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h/2)+0.99274*(#ppt_y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h/2)+0.99510*(#ppt_y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h/2)+0.99701*(#ppt_y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h/2)+0.99848*(#ppt_y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h/2)+0.99951*(#ppt_y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1" decel="5000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h/2)+0.14416*(#ppt_y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h/2)+0.27304*(#ppt_y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h/2)+0.38576*(#ppt_y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h/2)+0.48262*(#ppt_y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h/2)+0.56479*(#ppt_y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h/2)+0.63397*(#ppt_y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h/2)+0.69198*(#ppt_y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h/2)+0.74056*(#ppt_y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h/2)+0.78128*(#ppt_y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h/2)+0.81547*(#ppt_y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h/2)+0.84426*(#ppt_y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h/2)+0.86854*(#ppt_y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h/2)+0.88909*(#ppt_y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h/2)+0.90650*(#ppt_y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h/2)+0.92128*(#ppt_y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h/2)+0.93384*(#ppt_y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h/2)+0.94453*(#ppt_y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h/2)+0.95363*(#ppt_y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h/2)+0.96137*(#ppt_y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h/2)+0.96795*(#ppt_y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h/2)+0.97356*(#ppt_y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h/2)+0.97848*(#ppt_y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h/2)+0.98283*(#ppt_y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h/2)+0.98663*(#ppt_y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h/2)+0.98993*(#ppt_y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h/2)+0.99274*(#ppt_y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h/2)+0.99510*(#ppt_y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h/2)+0.99701*(#ppt_y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h/2)+0.99848*(#ppt_y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h/2)+0.99951*(#ppt_y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1" decel="5000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h/2)+0.14416*(#ppt_y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h/2)+0.27304*(#ppt_y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h/2)+0.38576*(#ppt_y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h/2)+0.48262*(#ppt_y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h/2)+0.56479*(#ppt_y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h/2)+0.63397*(#ppt_y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h/2)+0.69198*(#ppt_y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h/2)+0.74056*(#ppt_y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h/2)+0.78128*(#ppt_y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h/2)+0.81547*(#ppt_y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h/2)+0.84426*(#ppt_y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h/2)+0.86854*(#ppt_y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h/2)+0.88909*(#ppt_y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h/2)+0.90650*(#ppt_y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h/2)+0.92128*(#ppt_y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h/2)+0.93384*(#ppt_y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h/2)+0.94453*(#ppt_y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h/2)+0.95363*(#ppt_y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h/2)+0.96137*(#ppt_y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h/2)+0.96795*(#ppt_y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h/2)+0.97356*(#ppt_y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h/2)+0.97848*(#ppt_y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h/2)+0.98283*(#ppt_y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h/2)+0.98663*(#ppt_y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h/2)+0.98993*(#ppt_y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h/2)+0.99274*(#ppt_y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h/2)+0.99510*(#ppt_y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h/2)+0.99701*(#ppt_y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h/2)+0.99848*(#ppt_y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h/2)+0.99951*(#ppt_y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1" decel="5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h/2)+0.14416*(#ppt_y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h/2)+0.27304*(#ppt_y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h/2)+0.38576*(#ppt_y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h/2)+0.48262*(#ppt_y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h/2)+0.56479*(#ppt_y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h/2)+0.63397*(#ppt_y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h/2)+0.69198*(#ppt_y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h/2)+0.74056*(#ppt_y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h/2)+0.78128*(#ppt_y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h/2)+0.81547*(#ppt_y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h/2)+0.84426*(#ppt_y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h/2)+0.86854*(#ppt_y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h/2)+0.88909*(#ppt_y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h/2)+0.90650*(#ppt_y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h/2)+0.92128*(#ppt_y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h/2)+0.93384*(#ppt_y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h/2)+0.94453*(#ppt_y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h/2)+0.95363*(#ppt_y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h/2)+0.96137*(#ppt_y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h/2)+0.96795*(#ppt_y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h/2)+0.97356*(#ppt_y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h/2)+0.97848*(#ppt_y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h/2)+0.98283*(#ppt_y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h/2)+0.98663*(#ppt_y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h/2)+0.98993*(#ppt_y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h/2)+0.99274*(#ppt_y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h/2)+0.99510*(#ppt_y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h/2)+0.99701*(#ppt_y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h/2)+0.99848*(#ppt_y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h/2)+0.99951*(#ppt_y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1" decel="5000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h/2)+0.14416*(#ppt_y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h/2)+0.27304*(#ppt_y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h/2)+0.38576*(#ppt_y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h/2)+0.48262*(#ppt_y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h/2)+0.56479*(#ppt_y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h/2)+0.63397*(#ppt_y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h/2)+0.69198*(#ppt_y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h/2)+0.74056*(#ppt_y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h/2)+0.78128*(#ppt_y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h/2)+0.81547*(#ppt_y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h/2)+0.84426*(#ppt_y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h/2)+0.86854*(#ppt_y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h/2)+0.88909*(#ppt_y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h/2)+0.90650*(#ppt_y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h/2)+0.92128*(#ppt_y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h/2)+0.93384*(#ppt_y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h/2)+0.94453*(#ppt_y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h/2)+0.95363*(#ppt_y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h/2)+0.96137*(#ppt_y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h/2)+0.96795*(#ppt_y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h/2)+0.97356*(#ppt_y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h/2)+0.97848*(#ppt_y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h/2)+0.98283*(#ppt_y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h/2)+0.98663*(#ppt_y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h/2)+0.98993*(#ppt_y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h/2)+0.99274*(#ppt_y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h/2)+0.99510*(#ppt_y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h/2)+0.99701*(#ppt_y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h/2)+0.99848*(#ppt_y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h/2)+0.99951*(#ppt_y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1" decel="50000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h/2)+0.14416*(#ppt_y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h/2)+0.27304*(#ppt_y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h/2)+0.38576*(#ppt_y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h/2)+0.48262*(#ppt_y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h/2)+0.56479*(#ppt_y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h/2)+0.63397*(#ppt_y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h/2)+0.69198*(#ppt_y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h/2)+0.74056*(#ppt_y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h/2)+0.78128*(#ppt_y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h/2)+0.81547*(#ppt_y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h/2)+0.84426*(#ppt_y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h/2)+0.86854*(#ppt_y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h/2)+0.88909*(#ppt_y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h/2)+0.90650*(#ppt_y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h/2)+0.92128*(#ppt_y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h/2)+0.93384*(#ppt_y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h/2)+0.94453*(#ppt_y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h/2)+0.95363*(#ppt_y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h/2)+0.96137*(#ppt_y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h/2)+0.96795*(#ppt_y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h/2)+0.97356*(#ppt_y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h/2)+0.97848*(#ppt_y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h/2)+0.98283*(#ppt_y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h/2)+0.98663*(#ppt_y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h/2)+0.98993*(#ppt_y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h/2)+0.99274*(#ppt_y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h/2)+0.99510*(#ppt_y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h/2)+0.99701*(#ppt_y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h/2)+0.99848*(#ppt_y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h/2)+0.99951*(#ppt_y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1" decel="5000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h/2)+0.14416*(#ppt_y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h/2)+0.27304*(#ppt_y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h/2)+0.38576*(#ppt_y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h/2)+0.48262*(#ppt_y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h/2)+0.56479*(#ppt_y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h/2)+0.63397*(#ppt_y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h/2)+0.69198*(#ppt_y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h/2)+0.74056*(#ppt_y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h/2)+0.78128*(#ppt_y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h/2)+0.81547*(#ppt_y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h/2)+0.84426*(#ppt_y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h/2)+0.86854*(#ppt_y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h/2)+0.88909*(#ppt_y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h/2)+0.90650*(#ppt_y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h/2)+0.92128*(#ppt_y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h/2)+0.93384*(#ppt_y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h/2)+0.94453*(#ppt_y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h/2)+0.95363*(#ppt_y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h/2)+0.96137*(#ppt_y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h/2)+0.96795*(#ppt_y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h/2)+0.97356*(#ppt_y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h/2)+0.97848*(#ppt_y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h/2)+0.98283*(#ppt_y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h/2)+0.98663*(#ppt_y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h/2)+0.98993*(#ppt_y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h/2)+0.99274*(#ppt_y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h/2)+0.99510*(#ppt_y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h/2)+0.99701*(#ppt_y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h/2)+0.99848*(#ppt_y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h/2)+0.99951*(#ppt_y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1" decel="5000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h/2)+0.14416*(#ppt_y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h/2)+0.27304*(#ppt_y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h/2)+0.38576*(#ppt_y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h/2)+0.48262*(#ppt_y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h/2)+0.56479*(#ppt_y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h/2)+0.63397*(#ppt_y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h/2)+0.69198*(#ppt_y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h/2)+0.74056*(#ppt_y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h/2)+0.78128*(#ppt_y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h/2)+0.81547*(#ppt_y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h/2)+0.84426*(#ppt_y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h/2)+0.86854*(#ppt_y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h/2)+0.88909*(#ppt_y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h/2)+0.90650*(#ppt_y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h/2)+0.92128*(#ppt_y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h/2)+0.93384*(#ppt_y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h/2)+0.94453*(#ppt_y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h/2)+0.95363*(#ppt_y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h/2)+0.96137*(#ppt_y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h/2)+0.96795*(#ppt_y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h/2)+0.97356*(#ppt_y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h/2)+0.97848*(#ppt_y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h/2)+0.98283*(#ppt_y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h/2)+0.98663*(#ppt_y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h/2)+0.98993*(#ppt_y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h/2)+0.99274*(#ppt_y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h/2)+0.99510*(#ppt_y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h/2)+0.99701*(#ppt_y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h/2)+0.99848*(#ppt_y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h/2)+0.99951*(#ppt_y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1" decel="5000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-#ppt_h/2)+0.14416*(#ppt_y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-#ppt_h/2)+0.27304*(#ppt_y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-#ppt_h/2)+0.38576*(#ppt_y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-#ppt_h/2)+0.48262*(#ppt_y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-#ppt_h/2)+0.56479*(#ppt_y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-#ppt_h/2)+0.63397*(#ppt_y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-#ppt_h/2)+0.69198*(#ppt_y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-#ppt_h/2)+0.74056*(#ppt_y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-#ppt_h/2)+0.78128*(#ppt_y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-#ppt_h/2)+0.81547*(#ppt_y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-#ppt_h/2)+0.84426*(#ppt_y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-#ppt_h/2)+0.86854*(#ppt_y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-#ppt_h/2)+0.88909*(#ppt_y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-#ppt_h/2)+0.90650*(#ppt_y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-#ppt_h/2)+0.92128*(#ppt_y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-#ppt_h/2)+0.93384*(#ppt_y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-#ppt_h/2)+0.94453*(#ppt_y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-#ppt_h/2)+0.95363*(#ppt_y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-#ppt_h/2)+0.96137*(#ppt_y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-#ppt_h/2)+0.96795*(#ppt_y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-#ppt_h/2)+0.97356*(#ppt_y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-#ppt_h/2)+0.97848*(#ppt_y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-#ppt_h/2)+0.98283*(#ppt_y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-#ppt_h/2)+0.98663*(#ppt_y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-#ppt_h/2)+0.98993*(#ppt_y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-#ppt_h/2)+0.99274*(#ppt_y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-#ppt_h/2)+0.99510*(#ppt_y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-#ppt_h/2)+0.99701*(#ppt_y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-#ppt_h/2)+0.99848*(#ppt_y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-#ppt_h/2)+0.99951*(#ppt_y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840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Amount by ship-state: a long tail</a:t>
            </a:r>
            <a:endParaRPr lang="en-US" sz="2800" dirty="0"/>
          </a:p>
        </p:txBody>
      </p:sp>
      <p:sp>
        <p:nvSpPr>
          <p:cNvPr id="3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E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itle under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207008"/>
            <a:ext cx="1371600" cy="41148"/>
          </a:xfrm>
          <a:prstGeom prst="rect">
            <a:avLst/>
          </a:prstGeom>
          <a:solidFill>
            <a:srgbClr val="FF1E8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62362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 OF SHIP-POSTAL-CODE BY SHIP-STATE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64240" y="623620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5E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000" dirty="0"/>
          </a:p>
        </p:txBody>
      </p:sp>
      <p:graphicFrame>
        <p:nvGraphicFramePr>
          <p:cNvPr id="7" name="Amount by ship-state doughnut chart" descr="Doughnut chart of amount share by ship-state: Maharashtra 18.2%, Kerala 13.5%, West Bengal 12.1%, Karnataka 11.1%, Tamil Nadu 10.4%, then Telangana, Gujarat, Rajasthan and a tail of smaller states."/>
          <p:cNvGraphicFramePr/>
          <p:nvPr/>
        </p:nvGraphicFramePr>
        <p:xfrm>
          <a:off x="548640" y="1463040"/>
          <a:ext cx="69494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63840" y="1463040"/>
            <a:ext cx="3657600" cy="4480560"/>
          </a:xfrm>
          <a:prstGeom prst="rect">
            <a:avLst/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63840" y="1463040"/>
            <a:ext cx="54864" cy="4480560"/>
          </a:xfrm>
          <a:prstGeom prst="rect">
            <a:avLst/>
          </a:prstGeom>
          <a:solidFill>
            <a:srgbClr val="FF1E8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8119872" y="16916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 5 STATES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119872" y="20116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5E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65%</a:t>
            </a:r>
            <a:endParaRPr lang="en-US" sz="4800" dirty="0"/>
          </a:p>
        </p:txBody>
      </p:sp>
      <p:sp>
        <p:nvSpPr>
          <p:cNvPr id="12" name="Text 9"/>
          <p:cNvSpPr/>
          <p:nvPr/>
        </p:nvSpPr>
        <p:spPr>
          <a:xfrm>
            <a:off x="8119872" y="288036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 total amount ships to just five states; the remaining slices are each under 9%.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119872" y="4069080"/>
            <a:ext cx="3200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Maharashtra is the single largest at 18.2%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Kerala and West Bengal follow closely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63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26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489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652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815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978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 fill="hold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141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00" fill="hold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304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 fill="hold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67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00" fill="hold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793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70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840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Five states set the tone for the year</a:t>
            </a:r>
            <a:endParaRPr lang="en-US" sz="2800" dirty="0"/>
          </a:p>
        </p:txBody>
      </p:sp>
      <p:sp>
        <p:nvSpPr>
          <p:cNvPr id="3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E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itle under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207008"/>
            <a:ext cx="1371600" cy="41148"/>
          </a:xfrm>
          <a:prstGeom prst="rect">
            <a:avLst/>
          </a:prstGeom>
          <a:solidFill>
            <a:srgbClr val="FF1E8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62362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 DETAIL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64240" y="623620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5E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000" dirty="0"/>
          </a:p>
        </p:txBody>
      </p:sp>
      <p:graphicFrame>
        <p:nvGraphicFramePr>
          <p:cNvPr id="7" name="State share column chart" descr="Column chart of share of amount by state: Maharashtra 18.2, Kerala 13.5, West Bengal 12.1, Karnataka 11.1, Tamil Nadu 10.4, Telangana 8.2, Gujarat 7.1, Rajasthan 5.0 percent."/>
          <p:cNvGraphicFramePr/>
          <p:nvPr/>
        </p:nvGraphicFramePr>
        <p:xfrm>
          <a:off x="548640" y="1554480"/>
          <a:ext cx="731520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0" y="1554480"/>
            <a:ext cx="3291840" cy="4206240"/>
          </a:xfrm>
          <a:prstGeom prst="rect">
            <a:avLst/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0" y="1554480"/>
            <a:ext cx="54864" cy="4206240"/>
          </a:xfrm>
          <a:prstGeom prst="rect">
            <a:avLst/>
          </a:prstGeom>
          <a:solidFill>
            <a:srgbClr val="FF1E8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8485632" y="17830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1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it means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485632" y="2240280"/>
            <a:ext cx="28346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West and South together dominate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Kerala over-indexes for its size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East is carried almost entirely by West Bengal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North beyond Rajasthan is thin — an expansion gap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1+#ppt_h/2)+0.14416*(#ppt_y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1+#ppt_h/2)+0.27304*(#ppt_y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1+#ppt_h/2)+0.38576*(#ppt_y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1+#ppt_h/2)+0.48262*(#ppt_y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1+#ppt_h/2)+0.56479*(#ppt_y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1+#ppt_h/2)+0.63397*(#ppt_y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1+#ppt_h/2)+0.69198*(#ppt_y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1+#ppt_h/2)+0.74056*(#ppt_y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1+#ppt_h/2)+0.78128*(#ppt_y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1+#ppt_h/2)+0.81547*(#ppt_y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1+#ppt_h/2)+0.84426*(#ppt_y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1+#ppt_h/2)+0.86854*(#ppt_y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1+#ppt_h/2)+0.88909*(#ppt_y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1+#ppt_h/2)+0.90650*(#ppt_y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1+#ppt_h/2)+0.92128*(#ppt_y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1+#ppt_h/2)+0.93384*(#ppt_y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1+#ppt_h/2)+0.94453*(#ppt_y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1+#ppt_h/2)+0.95363*(#ppt_y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1+#ppt_h/2)+0.96137*(#ppt_y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1+#ppt_h/2)+0.96795*(#ppt_y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1+#ppt_h/2)+0.97356*(#ppt_y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1+#ppt_h/2)+0.97848*(#ppt_y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1+#ppt_h/2)+0.98283*(#ppt_y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1+#ppt_h/2)+0.98663*(#ppt_y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1+#ppt_h/2)+0.98993*(#ppt_y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1+#ppt_h/2)+0.99274*(#ppt_y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1+#ppt_h/2)+0.99510*(#ppt_y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1+#ppt_h/2)+0.99701*(#ppt_y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1+#ppt_h/2)+0.99848*(#ppt_y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1+#ppt_h/2)+0.99951*(#ppt_y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50000" fill="hold" grpId="0" nodeType="withEffect">
                                  <p:stCondLst>
                                    <p:cond delay="77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1+#ppt_h/2)+0.14416*(#ppt_y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1+#ppt_h/2)+0.27304*(#ppt_y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1+#ppt_h/2)+0.38576*(#ppt_y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1+#ppt_h/2)+0.48262*(#ppt_y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1+#ppt_h/2)+0.56479*(#ppt_y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1+#ppt_h/2)+0.63397*(#ppt_y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1+#ppt_h/2)+0.69198*(#ppt_y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1+#ppt_h/2)+0.74056*(#ppt_y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1+#ppt_h/2)+0.78128*(#ppt_y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1+#ppt_h/2)+0.81547*(#ppt_y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1+#ppt_h/2)+0.84426*(#ppt_y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1+#ppt_h/2)+0.86854*(#ppt_y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1+#ppt_h/2)+0.88909*(#ppt_y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1+#ppt_h/2)+0.90650*(#ppt_y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1+#ppt_h/2)+0.92128*(#ppt_y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1+#ppt_h/2)+0.93384*(#ppt_y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1+#ppt_h/2)+0.94453*(#ppt_y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1+#ppt_h/2)+0.95363*(#ppt_y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1+#ppt_h/2)+0.96137*(#ppt_y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1+#ppt_h/2)+0.96795*(#ppt_y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1+#ppt_h/2)+0.97356*(#ppt_y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1+#ppt_h/2)+0.97848*(#ppt_y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1+#ppt_h/2)+0.98283*(#ppt_y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1+#ppt_h/2)+0.98663*(#ppt_y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1+#ppt_h/2)+0.98993*(#ppt_y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1+#ppt_h/2)+0.99274*(#ppt_y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1+#ppt_h/2)+0.99510*(#ppt_y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1+#ppt_h/2)+0.99701*(#ppt_y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1+#ppt_h/2)+0.99848*(#ppt_y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1+#ppt_h/2)+0.99951*(#ppt_y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50000" fill="hold" grpId="0" nodeType="withEffect">
                                  <p:stCondLst>
                                    <p:cond delay="154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1+#ppt_h/2)+0.14416*(#ppt_y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1+#ppt_h/2)+0.27304*(#ppt_y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1+#ppt_h/2)+0.38576*(#ppt_y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1+#ppt_h/2)+0.48262*(#ppt_y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1+#ppt_h/2)+0.56479*(#ppt_y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1+#ppt_h/2)+0.63397*(#ppt_y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1+#ppt_h/2)+0.69198*(#ppt_y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1+#ppt_h/2)+0.74056*(#ppt_y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1+#ppt_h/2)+0.78128*(#ppt_y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1+#ppt_h/2)+0.81547*(#ppt_y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1+#ppt_h/2)+0.84426*(#ppt_y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1+#ppt_h/2)+0.86854*(#ppt_y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1+#ppt_h/2)+0.88909*(#ppt_y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1+#ppt_h/2)+0.90650*(#ppt_y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1+#ppt_h/2)+0.92128*(#ppt_y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1+#ppt_h/2)+0.93384*(#ppt_y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1+#ppt_h/2)+0.94453*(#ppt_y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1+#ppt_h/2)+0.95363*(#ppt_y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1+#ppt_h/2)+0.96137*(#ppt_y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1+#ppt_h/2)+0.96795*(#ppt_y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1+#ppt_h/2)+0.97356*(#ppt_y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1+#ppt_h/2)+0.97848*(#ppt_y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1+#ppt_h/2)+0.98283*(#ppt_y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1+#ppt_h/2)+0.98663*(#ppt_y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1+#ppt_h/2)+0.98993*(#ppt_y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1+#ppt_h/2)+0.99274*(#ppt_y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1+#ppt_h/2)+0.99510*(#ppt_y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1+#ppt_h/2)+0.99701*(#ppt_y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1+#ppt_h/2)+0.99848*(#ppt_y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1+#ppt_h/2)+0.99951*(#ppt_y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50000" fill="hold" grpId="0" nodeType="withEffect">
                                  <p:stCondLst>
                                    <p:cond delay="231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1+#ppt_h/2)+0.14416*(#ppt_y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1+#ppt_h/2)+0.27304*(#ppt_y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1+#ppt_h/2)+0.38576*(#ppt_y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1+#ppt_h/2)+0.48262*(#ppt_y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1+#ppt_h/2)+0.56479*(#ppt_y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1+#ppt_h/2)+0.63397*(#ppt_y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1+#ppt_h/2)+0.69198*(#ppt_y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1+#ppt_h/2)+0.74056*(#ppt_y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1+#ppt_h/2)+0.78128*(#ppt_y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1+#ppt_h/2)+0.81547*(#ppt_y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1+#ppt_h/2)+0.84426*(#ppt_y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1+#ppt_h/2)+0.86854*(#ppt_y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1+#ppt_h/2)+0.88909*(#ppt_y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1+#ppt_h/2)+0.90650*(#ppt_y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1+#ppt_h/2)+0.92128*(#ppt_y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1+#ppt_h/2)+0.93384*(#ppt_y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1+#ppt_h/2)+0.94453*(#ppt_y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1+#ppt_h/2)+0.95363*(#ppt_y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1+#ppt_h/2)+0.96137*(#ppt_y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1+#ppt_h/2)+0.96795*(#ppt_y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1+#ppt_h/2)+0.97356*(#ppt_y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1+#ppt_h/2)+0.97848*(#ppt_y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1+#ppt_h/2)+0.98283*(#ppt_y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1+#ppt_h/2)+0.98663*(#ppt_y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1+#ppt_h/2)+0.98993*(#ppt_y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1+#ppt_h/2)+0.99274*(#ppt_y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1+#ppt_h/2)+0.99510*(#ppt_y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1+#ppt_h/2)+0.99701*(#ppt_y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1+#ppt_h/2)+0.99848*(#ppt_y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1+#ppt_h/2)+0.99951*(#ppt_y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50000" fill="hold" grpId="0" nodeType="withEffect">
                                  <p:stCondLst>
                                    <p:cond delay="308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1+#ppt_h/2)+0.14416*(#ppt_y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1+#ppt_h/2)+0.27304*(#ppt_y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1+#ppt_h/2)+0.38576*(#ppt_y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1+#ppt_h/2)+0.48262*(#ppt_y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1+#ppt_h/2)+0.56479*(#ppt_y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1+#ppt_h/2)+0.63397*(#ppt_y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1+#ppt_h/2)+0.69198*(#ppt_y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1+#ppt_h/2)+0.74056*(#ppt_y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1+#ppt_h/2)+0.78128*(#ppt_y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1+#ppt_h/2)+0.81547*(#ppt_y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1+#ppt_h/2)+0.84426*(#ppt_y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1+#ppt_h/2)+0.86854*(#ppt_y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1+#ppt_h/2)+0.88909*(#ppt_y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1+#ppt_h/2)+0.90650*(#ppt_y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1+#ppt_h/2)+0.92128*(#ppt_y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1+#ppt_h/2)+0.93384*(#ppt_y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1+#ppt_h/2)+0.94453*(#ppt_y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1+#ppt_h/2)+0.95363*(#ppt_y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1+#ppt_h/2)+0.96137*(#ppt_y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1+#ppt_h/2)+0.96795*(#ppt_y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1+#ppt_h/2)+0.97356*(#ppt_y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1+#ppt_h/2)+0.97848*(#ppt_y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1+#ppt_h/2)+0.98283*(#ppt_y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1+#ppt_h/2)+0.98663*(#ppt_y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1+#ppt_h/2)+0.98993*(#ppt_y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1+#ppt_h/2)+0.99274*(#ppt_y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1+#ppt_h/2)+0.99510*(#ppt_y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1+#ppt_h/2)+0.99701*(#ppt_y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1+#ppt_h/2)+0.99848*(#ppt_y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1+#ppt_h/2)+0.99951*(#ppt_y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decel="50000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1+#ppt_h/2)+0.14416*(#ppt_y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1+#ppt_h/2)+0.27304*(#ppt_y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1+#ppt_h/2)+0.38576*(#ppt_y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1+#ppt_h/2)+0.48262*(#ppt_y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1+#ppt_h/2)+0.56479*(#ppt_y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1+#ppt_h/2)+0.63397*(#ppt_y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1+#ppt_h/2)+0.69198*(#ppt_y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1+#ppt_h/2)+0.74056*(#ppt_y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1+#ppt_h/2)+0.78128*(#ppt_y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1+#ppt_h/2)+0.81547*(#ppt_y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1+#ppt_h/2)+0.84426*(#ppt_y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1+#ppt_h/2)+0.86854*(#ppt_y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1+#ppt_h/2)+0.88909*(#ppt_y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1+#ppt_h/2)+0.90650*(#ppt_y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1+#ppt_h/2)+0.92128*(#ppt_y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1+#ppt_h/2)+0.93384*(#ppt_y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1+#ppt_h/2)+0.94453*(#ppt_y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1+#ppt_h/2)+0.95363*(#ppt_y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1+#ppt_h/2)+0.96137*(#ppt_y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1+#ppt_h/2)+0.96795*(#ppt_y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1+#ppt_h/2)+0.97356*(#ppt_y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1+#ppt_h/2)+0.97848*(#ppt_y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1+#ppt_h/2)+0.98283*(#ppt_y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1+#ppt_h/2)+0.98663*(#ppt_y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1+#ppt_h/2)+0.98993*(#ppt_y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1+#ppt_h/2)+0.99274*(#ppt_y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1+#ppt_h/2)+0.99510*(#ppt_y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1+#ppt_h/2)+0.99701*(#ppt_y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1+#ppt_h/2)+0.99848*(#ppt_y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1+#ppt_h/2)+0.99951*(#ppt_y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decel="50000" fill="hold" grpId="0" nodeType="withEffect">
                                  <p:stCondLst>
                                    <p:cond delay="462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1+#ppt_h/2)+0.14416*(#ppt_y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1+#ppt_h/2)+0.27304*(#ppt_y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1+#ppt_h/2)+0.38576*(#ppt_y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1+#ppt_h/2)+0.48262*(#ppt_y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1+#ppt_h/2)+0.56479*(#ppt_y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1+#ppt_h/2)+0.63397*(#ppt_y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1+#ppt_h/2)+0.69198*(#ppt_y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1+#ppt_h/2)+0.74056*(#ppt_y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1+#ppt_h/2)+0.78128*(#ppt_y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1+#ppt_h/2)+0.81547*(#ppt_y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1+#ppt_h/2)+0.84426*(#ppt_y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1+#ppt_h/2)+0.86854*(#ppt_y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1+#ppt_h/2)+0.88909*(#ppt_y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1+#ppt_h/2)+0.90650*(#ppt_y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1+#ppt_h/2)+0.92128*(#ppt_y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1+#ppt_h/2)+0.93384*(#ppt_y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1+#ppt_h/2)+0.94453*(#ppt_y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1+#ppt_h/2)+0.95363*(#ppt_y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1+#ppt_h/2)+0.96137*(#ppt_y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1+#ppt_h/2)+0.96795*(#ppt_y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1+#ppt_h/2)+0.97356*(#ppt_y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1+#ppt_h/2)+0.97848*(#ppt_y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1+#ppt_h/2)+0.98283*(#ppt_y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1+#ppt_h/2)+0.98663*(#ppt_y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1+#ppt_h/2)+0.98993*(#ppt_y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1+#ppt_h/2)+0.99274*(#ppt_y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1+#ppt_h/2)+0.99510*(#ppt_y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1+#ppt_h/2)+0.99701*(#ppt_y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1+#ppt_h/2)+0.99848*(#ppt_y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1+#ppt_h/2)+0.99951*(#ppt_y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decel="50000" fill="hold" grpId="0" nodeType="withEffect">
                                  <p:stCondLst>
                                    <p:cond delay="539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1+#ppt_h/2)+0.14416*(#ppt_y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1+#ppt_h/2)+0.27304*(#ppt_y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1+#ppt_h/2)+0.38576*(#ppt_y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1+#ppt_h/2)+0.48262*(#ppt_y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1+#ppt_h/2)+0.56479*(#ppt_y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1+#ppt_h/2)+0.63397*(#ppt_y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1+#ppt_h/2)+0.69198*(#ppt_y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1+#ppt_h/2)+0.74056*(#ppt_y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1+#ppt_h/2)+0.78128*(#ppt_y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1+#ppt_h/2)+0.81547*(#ppt_y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1+#ppt_h/2)+0.84426*(#ppt_y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1+#ppt_h/2)+0.86854*(#ppt_y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1+#ppt_h/2)+0.88909*(#ppt_y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1+#ppt_h/2)+0.90650*(#ppt_y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1+#ppt_h/2)+0.92128*(#ppt_y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1+#ppt_h/2)+0.93384*(#ppt_y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1+#ppt_h/2)+0.94453*(#ppt_y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1+#ppt_h/2)+0.95363*(#ppt_y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1+#ppt_h/2)+0.96137*(#ppt_y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1+#ppt_h/2)+0.96795*(#ppt_y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1+#ppt_h/2)+0.97356*(#ppt_y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1+#ppt_h/2)+0.97848*(#ppt_y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1+#ppt_h/2)+0.98283*(#ppt_y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1+#ppt_h/2)+0.98663*(#ppt_y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1+#ppt_h/2)+0.98993*(#ppt_y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1+#ppt_h/2)+0.99274*(#ppt_y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1+#ppt_h/2)+0.99510*(#ppt_y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1+#ppt_h/2)+0.99701*(#ppt_y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1+#ppt_h/2)+0.99848*(#ppt_y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1+#ppt_h/2)+0.99951*(#ppt_y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decel="50000" fill="hold" grpId="0" nodeType="withEffect">
                                  <p:stCondLst>
                                    <p:cond delay="616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1+#ppt_h/2)+0.14416*(#ppt_y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1+#ppt_h/2)+0.27304*(#ppt_y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1+#ppt_h/2)+0.38576*(#ppt_y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1+#ppt_h/2)+0.48262*(#ppt_y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1+#ppt_h/2)+0.56479*(#ppt_y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1+#ppt_h/2)+0.63397*(#ppt_y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1+#ppt_h/2)+0.69198*(#ppt_y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1+#ppt_h/2)+0.74056*(#ppt_y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1+#ppt_h/2)+0.78128*(#ppt_y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1+#ppt_h/2)+0.81547*(#ppt_y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1+#ppt_h/2)+0.84426*(#ppt_y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1+#ppt_h/2)+0.86854*(#ppt_y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1+#ppt_h/2)+0.88909*(#ppt_y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1+#ppt_h/2)+0.90650*(#ppt_y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1+#ppt_h/2)+0.92128*(#ppt_y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1+#ppt_h/2)+0.93384*(#ppt_y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1+#ppt_h/2)+0.94453*(#ppt_y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1+#ppt_h/2)+0.95363*(#ppt_y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1+#ppt_h/2)+0.96137*(#ppt_y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1+#ppt_h/2)+0.96795*(#ppt_y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1+#ppt_h/2)+0.97356*(#ppt_y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1+#ppt_h/2)+0.97848*(#ppt_y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1+#ppt_h/2)+0.98283*(#ppt_y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1+#ppt_h/2)+0.98663*(#ppt_y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1+#ppt_h/2)+0.98993*(#ppt_y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1+#ppt_h/2)+0.99274*(#ppt_y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1+#ppt_h/2)+0.99510*(#ppt_y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1+#ppt_h/2)+0.99701*(#ppt_y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1+#ppt_h/2)+0.99848*(#ppt_y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1+#ppt_h/2)+0.99951*(#ppt_y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decel="50000" fill="hold" grpId="0" nodeType="withEffect">
                                  <p:stCondLst>
                                    <p:cond delay="693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1+#ppt_h/2)+0.14416*(#ppt_y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1+#ppt_h/2)+0.27304*(#ppt_y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1+#ppt_h/2)+0.38576*(#ppt_y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1+#ppt_h/2)+0.48262*(#ppt_y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1+#ppt_h/2)+0.56479*(#ppt_y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1+#ppt_h/2)+0.63397*(#ppt_y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1+#ppt_h/2)+0.69198*(#ppt_y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1+#ppt_h/2)+0.74056*(#ppt_y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1+#ppt_h/2)+0.78128*(#ppt_y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1+#ppt_h/2)+0.81547*(#ppt_y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1+#ppt_h/2)+0.84426*(#ppt_y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1+#ppt_h/2)+0.86854*(#ppt_y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1+#ppt_h/2)+0.88909*(#ppt_y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1+#ppt_h/2)+0.90650*(#ppt_y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1+#ppt_h/2)+0.92128*(#ppt_y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1+#ppt_h/2)+0.93384*(#ppt_y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1+#ppt_h/2)+0.94453*(#ppt_y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1+#ppt_h/2)+0.95363*(#ppt_y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1+#ppt_h/2)+0.96137*(#ppt_y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1+#ppt_h/2)+0.96795*(#ppt_y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1+#ppt_h/2)+0.97356*(#ppt_y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1+#ppt_h/2)+0.97848*(#ppt_y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1+#ppt_h/2)+0.98283*(#ppt_y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1+#ppt_h/2)+0.98663*(#ppt_y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1+#ppt_h/2)+0.98993*(#ppt_y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1+#ppt_h/2)+0.99274*(#ppt_y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1+#ppt_h/2)+0.99510*(#ppt_y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1+#ppt_h/2)+0.99701*(#ppt_y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1+#ppt_h/2)+0.99848*(#ppt_y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1+#ppt_h/2)+0.99951*(#ppt_y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840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March peaks, then April falls off a cliff</a:t>
            </a:r>
            <a:endParaRPr lang="en-US" sz="2800" dirty="0"/>
          </a:p>
        </p:txBody>
      </p:sp>
      <p:sp>
        <p:nvSpPr>
          <p:cNvPr id="3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E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itle under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207008"/>
            <a:ext cx="1371600" cy="41148"/>
          </a:xfrm>
          <a:prstGeom prst="rect">
            <a:avLst/>
          </a:prstGeom>
          <a:solidFill>
            <a:srgbClr val="FF1E8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62362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 OF CATEGORY AND SUM OF AMOUNT BY MONTH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64240" y="623620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5E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000" dirty="0"/>
          </a:p>
        </p:txBody>
      </p:sp>
      <p:graphicFrame>
        <p:nvGraphicFramePr>
          <p:cNvPr id="7" name="Monthly demand line chart" descr="Line chart of indexed monthly demand: January 58, February 66, March 96 as the peak, then April dropping to 34."/>
          <p:cNvGraphicFramePr/>
          <p:nvPr/>
        </p:nvGraphicFramePr>
        <p:xfrm>
          <a:off x="548640" y="1554480"/>
          <a:ext cx="731520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0" y="1554480"/>
            <a:ext cx="3291840" cy="4206240"/>
          </a:xfrm>
          <a:prstGeom prst="rect">
            <a:avLst/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0" y="1554480"/>
            <a:ext cx="54864" cy="4206240"/>
          </a:xfrm>
          <a:prstGeom prst="rect">
            <a:avLst/>
          </a:prstGeom>
          <a:solidFill>
            <a:srgbClr val="FF1E8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8485632" y="17830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5E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-65%</a:t>
            </a:r>
            <a:endParaRPr lang="en-US" sz="4400" dirty="0"/>
          </a:p>
        </p:txBody>
      </p:sp>
      <p:sp>
        <p:nvSpPr>
          <p:cNvPr id="11" name="Text 8"/>
          <p:cNvSpPr/>
          <p:nvPr/>
        </p:nvSpPr>
        <p:spPr>
          <a:xfrm>
            <a:off x="8485632" y="265176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 from the March peak to April — the sharpest move anywhere on the dashboard.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485632" y="3931920"/>
            <a:ext cx="28346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January to March climbs steadily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April breaks the trend line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 count stays flat throughout</a:t>
            </a:r>
            <a:endParaRPr lang="en-US" sz="1200" dirty="0"/>
          </a:p>
        </p:txBody>
      </p:sp>
    </p:spTree>
  </p:cSld>
  <p:clrMapOvr>
    <a:masterClrMapping/>
  </p:clrMapOvr>
  <p:transition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0100*(#ppt_w)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.00100*(#ppt_w))+0.14416*(#ppt_w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.00100*(#ppt_w))+0.27304*(#ppt_w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.00100*(#ppt_w))+0.38576*(#ppt_w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.00100*(#ppt_w))+0.48262*(#ppt_w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.00100*(#ppt_w))+0.56479*(#ppt_w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.00100*(#ppt_w))+0.63397*(#ppt_w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.00100*(#ppt_w))+0.69198*(#ppt_w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.00100*(#ppt_w))+0.74056*(#ppt_w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.00100*(#ppt_w))+0.78128*(#ppt_w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.00100*(#ppt_w))+0.81547*(#ppt_w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.00100*(#ppt_w))+0.84426*(#ppt_w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.00100*(#ppt_w))+0.86854*(#ppt_w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.00100*(#ppt_w))+0.88909*(#ppt_w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.00100*(#ppt_w))+0.90650*(#ppt_w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.00100*(#ppt_w))+0.92128*(#ppt_w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.00100*(#ppt_w))+0.93384*(#ppt_w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.00100*(#ppt_w))+0.94453*(#ppt_w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.00100*(#ppt_w))+0.95363*(#ppt_w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.00100*(#ppt_w))+0.96137*(#ppt_w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.00100*(#ppt_w))+0.96795*(#ppt_w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.00100*(#ppt_w))+0.97356*(#ppt_w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.00100*(#ppt_w))+0.97848*(#ppt_w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.00100*(#ppt_w))+0.98283*(#ppt_w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.00100*(#ppt_w))+0.98663*(#ppt_w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.00100*(#ppt_w))+0.98993*(#ppt_w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.00100*(#ppt_w))+0.99274*(#ppt_w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.00100*(#ppt_w))+0.99510*(#ppt_w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.00100*(#ppt_w))+0.99701*(#ppt_w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.00100*(#ppt_w))+0.99848*(#ppt_w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.00100*(#ppt_w))+0.99951*(#ppt_w)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0100*(#ppt_h)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.00100*(#ppt_h))+0.14416*(#ppt_h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.00100*(#ppt_h))+0.27304*(#ppt_h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.00100*(#ppt_h))+0.38576*(#ppt_h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.00100*(#ppt_h))+0.48262*(#ppt_h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.00100*(#ppt_h))+0.56479*(#ppt_h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.00100*(#ppt_h))+0.63397*(#ppt_h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.00100*(#ppt_h))+0.69198*(#ppt_h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.00100*(#ppt_h))+0.74056*(#ppt_h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.00100*(#ppt_h))+0.78128*(#ppt_h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.00100*(#ppt_h))+0.81547*(#ppt_h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.00100*(#ppt_h))+0.84426*(#ppt_h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.00100*(#ppt_h))+0.86854*(#ppt_h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.00100*(#ppt_h))+0.88909*(#ppt_h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.00100*(#ppt_h))+0.90650*(#ppt_h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.00100*(#ppt_h))+0.92128*(#ppt_h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.00100*(#ppt_h))+0.93384*(#ppt_h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.00100*(#ppt_h))+0.94453*(#ppt_h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.00100*(#ppt_h))+0.95363*(#ppt_h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.00100*(#ppt_h))+0.96137*(#ppt_h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.00100*(#ppt_h))+0.96795*(#ppt_h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.00100*(#ppt_h))+0.97356*(#ppt_h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.00100*(#ppt_h))+0.97848*(#ppt_h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.00100*(#ppt_h))+0.98283*(#ppt_h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.00100*(#ppt_h))+0.98663*(#ppt_h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.00100*(#ppt_h))+0.98993*(#ppt_h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.00100*(#ppt_h))+0.99274*(#ppt_h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.00100*(#ppt_h))+0.99510*(#ppt_h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.00100*(#ppt_h))+0.99701*(#ppt_h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.00100*(#ppt_h))+0.99848*(#ppt_h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.00100*(#ppt_h))+0.99951*(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0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0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5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.5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.5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.5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.5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.5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.5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.5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.5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.5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.5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.5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.5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.5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.5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.5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.5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.5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.5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.5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.5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.5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.5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.5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.5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.5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.5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.5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.5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.5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.5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5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.5)+0.14416*(#ppt_y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.5)+0.27304*(#ppt_y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.5)+0.38576*(#ppt_y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.5)+0.48262*(#ppt_y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.5)+0.56479*(#ppt_y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.5)+0.63397*(#ppt_y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.5)+0.69198*(#ppt_y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.5)+0.74056*(#ppt_y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.5)+0.78128*(#ppt_y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.5)+0.81547*(#ppt_y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.5)+0.84426*(#ppt_y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.5)+0.86854*(#ppt_y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.5)+0.88909*(#ppt_y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.5)+0.90650*(#ppt_y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.5)+0.92128*(#ppt_y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.5)+0.93384*(#ppt_y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.5)+0.94453*(#ppt_y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.5)+0.95363*(#ppt_y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.5)+0.96137*(#ppt_y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.5)+0.96795*(#ppt_y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.5)+0.97356*(#ppt_y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.5)+0.97848*(#ppt_y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.5)+0.98283*(#ppt_y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.5)+0.98663*(#ppt_y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.5)+0.98993*(#ppt_y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.5)+0.99274*(#ppt_y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.5)+0.99510*(#ppt_y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.5)+0.99701*(#ppt_y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.5)+0.99848*(#ppt_y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.5)+0.99951*(#ppt_y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53" presetClass="entr" presetSubtype="528" decel="50000" fill="hold" grpId="0" nodeType="with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4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0100*(#ppt_w)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.00100*(#ppt_w))+0.14416*(#ppt_w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.00100*(#ppt_w))+0.27304*(#ppt_w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.00100*(#ppt_w))+0.38576*(#ppt_w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.00100*(#ppt_w))+0.48262*(#ppt_w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.00100*(#ppt_w))+0.56479*(#ppt_w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.00100*(#ppt_w))+0.63397*(#ppt_w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.00100*(#ppt_w))+0.69198*(#ppt_w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.00100*(#ppt_w))+0.74056*(#ppt_w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.00100*(#ppt_w))+0.78128*(#ppt_w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.00100*(#ppt_w))+0.81547*(#ppt_w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.00100*(#ppt_w))+0.84426*(#ppt_w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.00100*(#ppt_w))+0.86854*(#ppt_w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.00100*(#ppt_w))+0.88909*(#ppt_w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.00100*(#ppt_w))+0.90650*(#ppt_w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.00100*(#ppt_w))+0.92128*(#ppt_w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.00100*(#ppt_w))+0.93384*(#ppt_w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.00100*(#ppt_w))+0.94453*(#ppt_w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.00100*(#ppt_w))+0.95363*(#ppt_w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.00100*(#ppt_w))+0.96137*(#ppt_w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.00100*(#ppt_w))+0.96795*(#ppt_w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.00100*(#ppt_w))+0.97356*(#ppt_w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.00100*(#ppt_w))+0.97848*(#ppt_w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.00100*(#ppt_w))+0.98283*(#ppt_w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.00100*(#ppt_w))+0.98663*(#ppt_w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.00100*(#ppt_w))+0.98993*(#ppt_w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.00100*(#ppt_w))+0.99274*(#ppt_w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.00100*(#ppt_w))+0.99510*(#ppt_w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.00100*(#ppt_w))+0.99701*(#ppt_w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.00100*(#ppt_w))+0.99848*(#ppt_w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.00100*(#ppt_w))+0.99951*(#ppt_w)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5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0100*(#ppt_h)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.00100*(#ppt_h))+0.14416*(#ppt_h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.00100*(#ppt_h))+0.27304*(#ppt_h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.00100*(#ppt_h))+0.38576*(#ppt_h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.00100*(#ppt_h))+0.48262*(#ppt_h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.00100*(#ppt_h))+0.56479*(#ppt_h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.00100*(#ppt_h))+0.63397*(#ppt_h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.00100*(#ppt_h))+0.69198*(#ppt_h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.00100*(#ppt_h))+0.74056*(#ppt_h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.00100*(#ppt_h))+0.78128*(#ppt_h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.00100*(#ppt_h))+0.81547*(#ppt_h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.00100*(#ppt_h))+0.84426*(#ppt_h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.00100*(#ppt_h))+0.86854*(#ppt_h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.00100*(#ppt_h))+0.88909*(#ppt_h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.00100*(#ppt_h))+0.90650*(#ppt_h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.00100*(#ppt_h))+0.92128*(#ppt_h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.00100*(#ppt_h))+0.93384*(#ppt_h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.00100*(#ppt_h))+0.94453*(#ppt_h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.00100*(#ppt_h))+0.95363*(#ppt_h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.00100*(#ppt_h))+0.96137*(#ppt_h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.00100*(#ppt_h))+0.96795*(#ppt_h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.00100*(#ppt_h))+0.97356*(#ppt_h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.00100*(#ppt_h))+0.97848*(#ppt_h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.00100*(#ppt_h))+0.98283*(#ppt_h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.00100*(#ppt_h))+0.98663*(#ppt_h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.00100*(#ppt_h))+0.98993*(#ppt_h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.00100*(#ppt_h))+0.99274*(#ppt_h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.00100*(#ppt_h))+0.99510*(#ppt_h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.00100*(#ppt_h))+0.99701*(#ppt_h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.00100*(#ppt_h))+0.99848*(#ppt_h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.00100*(#ppt_h))+0.99951*(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7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5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.5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.5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.5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.5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.5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.5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.5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.5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.5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.5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.5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.5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.5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.5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.5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.5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.5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.5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.5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.5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.5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.5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.5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.5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.5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.5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.5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.5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.5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.5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8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5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.5)+0.14416*(#ppt_y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.5)+0.27304*(#ppt_y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.5)+0.38576*(#ppt_y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.5)+0.48262*(#ppt_y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.5)+0.56479*(#ppt_y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.5)+0.63397*(#ppt_y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.5)+0.69198*(#ppt_y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.5)+0.74056*(#ppt_y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.5)+0.78128*(#ppt_y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.5)+0.81547*(#ppt_y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.5)+0.84426*(#ppt_y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.5)+0.86854*(#ppt_y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.5)+0.88909*(#ppt_y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.5)+0.90650*(#ppt_y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.5)+0.92128*(#ppt_y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.5)+0.93384*(#ppt_y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.5)+0.94453*(#ppt_y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.5)+0.95363*(#ppt_y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.5)+0.96137*(#ppt_y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.5)+0.96795*(#ppt_y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.5)+0.97356*(#ppt_y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.5)+0.97848*(#ppt_y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.5)+0.98283*(#ppt_y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.5)+0.98663*(#ppt_y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.5)+0.98993*(#ppt_y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.5)+0.99274*(#ppt_y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.5)+0.99510*(#ppt_y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.5)+0.99701*(#ppt_y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.5)+0.99848*(#ppt_y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.5)+0.99951*(#ppt_y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53" presetClass="entr" presetSubtype="528" decel="5000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1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0100*(#ppt_w)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.00100*(#ppt_w))+0.14416*(#ppt_w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.00100*(#ppt_w))+0.27304*(#ppt_w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.00100*(#ppt_w))+0.38576*(#ppt_w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.00100*(#ppt_w))+0.48262*(#ppt_w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.00100*(#ppt_w))+0.56479*(#ppt_w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.00100*(#ppt_w))+0.63397*(#ppt_w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.00100*(#ppt_w))+0.69198*(#ppt_w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.00100*(#ppt_w))+0.74056*(#ppt_w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.00100*(#ppt_w))+0.78128*(#ppt_w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.00100*(#ppt_w))+0.81547*(#ppt_w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.00100*(#ppt_w))+0.84426*(#ppt_w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.00100*(#ppt_w))+0.86854*(#ppt_w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.00100*(#ppt_w))+0.88909*(#ppt_w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.00100*(#ppt_w))+0.90650*(#ppt_w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.00100*(#ppt_w))+0.92128*(#ppt_w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.00100*(#ppt_w))+0.93384*(#ppt_w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.00100*(#ppt_w))+0.94453*(#ppt_w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.00100*(#ppt_w))+0.95363*(#ppt_w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.00100*(#ppt_w))+0.96137*(#ppt_w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.00100*(#ppt_w))+0.96795*(#ppt_w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.00100*(#ppt_w))+0.97356*(#ppt_w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.00100*(#ppt_w))+0.97848*(#ppt_w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.00100*(#ppt_w))+0.98283*(#ppt_w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.00100*(#ppt_w))+0.98663*(#ppt_w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.00100*(#ppt_w))+0.98993*(#ppt_w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.00100*(#ppt_w))+0.99274*(#ppt_w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.00100*(#ppt_w))+0.99510*(#ppt_w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.00100*(#ppt_w))+0.99701*(#ppt_w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.00100*(#ppt_w))+0.99848*(#ppt_w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.00100*(#ppt_w))+0.99951*(#ppt_w)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2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0100*(#ppt_h)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.00100*(#ppt_h))+0.14416*(#ppt_h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.00100*(#ppt_h))+0.27304*(#ppt_h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.00100*(#ppt_h))+0.38576*(#ppt_h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.00100*(#ppt_h))+0.48262*(#ppt_h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.00100*(#ppt_h))+0.56479*(#ppt_h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.00100*(#ppt_h))+0.63397*(#ppt_h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.00100*(#ppt_h))+0.69198*(#ppt_h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.00100*(#ppt_h))+0.74056*(#ppt_h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.00100*(#ppt_h))+0.78128*(#ppt_h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.00100*(#ppt_h))+0.81547*(#ppt_h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.00100*(#ppt_h))+0.84426*(#ppt_h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.00100*(#ppt_h))+0.86854*(#ppt_h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.00100*(#ppt_h))+0.88909*(#ppt_h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.00100*(#ppt_h))+0.90650*(#ppt_h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.00100*(#ppt_h))+0.92128*(#ppt_h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.00100*(#ppt_h))+0.93384*(#ppt_h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.00100*(#ppt_h))+0.94453*(#ppt_h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.00100*(#ppt_h))+0.95363*(#ppt_h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.00100*(#ppt_h))+0.96137*(#ppt_h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.00100*(#ppt_h))+0.96795*(#ppt_h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.00100*(#ppt_h))+0.97356*(#ppt_h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.00100*(#ppt_h))+0.97848*(#ppt_h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.00100*(#ppt_h))+0.98283*(#ppt_h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.00100*(#ppt_h))+0.98663*(#ppt_h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.00100*(#ppt_h))+0.98993*(#ppt_h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.00100*(#ppt_h))+0.99274*(#ppt_h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.00100*(#ppt_h))+0.99510*(#ppt_h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.00100*(#ppt_h))+0.99701*(#ppt_h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.00100*(#ppt_h))+0.99848*(#ppt_h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.00100*(#ppt_h))+0.99951*(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70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4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5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.5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.5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.5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.5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.5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.5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.5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.5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.5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.5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.5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.5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.5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.5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.5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.5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.5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.5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.5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.5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.5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.5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.5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.5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.5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.5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.5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.5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.5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.5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5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5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.5)+0.14416*(#ppt_y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.5)+0.27304*(#ppt_y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.5)+0.38576*(#ppt_y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.5)+0.48262*(#ppt_y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.5)+0.56479*(#ppt_y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.5)+0.63397*(#ppt_y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.5)+0.69198*(#ppt_y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.5)+0.74056*(#ppt_y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.5)+0.78128*(#ppt_y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.5)+0.81547*(#ppt_y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.5)+0.84426*(#ppt_y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.5)+0.86854*(#ppt_y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.5)+0.88909*(#ppt_y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.5)+0.90650*(#ppt_y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.5)+0.92128*(#ppt_y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.5)+0.93384*(#ppt_y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.5)+0.94453*(#ppt_y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.5)+0.95363*(#ppt_y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.5)+0.96137*(#ppt_y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.5)+0.96795*(#ppt_y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.5)+0.97356*(#ppt_y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.5)+0.97848*(#ppt_y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.5)+0.98283*(#ppt_y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.5)+0.98663*(#ppt_y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.5)+0.98993*(#ppt_y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.5)+0.99274*(#ppt_y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.5)+0.99510*(#ppt_y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.5)+0.99701*(#ppt_y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.5)+0.99848*(#ppt_y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.5)+0.99951*(#ppt_y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53" presetClass="entr" presetSubtype="528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8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0100*(#ppt_w)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.00100*(#ppt_w))+0.14416*(#ppt_w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.00100*(#ppt_w))+0.27304*(#ppt_w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.00100*(#ppt_w))+0.38576*(#ppt_w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.00100*(#ppt_w))+0.48262*(#ppt_w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.00100*(#ppt_w))+0.56479*(#ppt_w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.00100*(#ppt_w))+0.63397*(#ppt_w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.00100*(#ppt_w))+0.69198*(#ppt_w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.00100*(#ppt_w))+0.74056*(#ppt_w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.00100*(#ppt_w))+0.78128*(#ppt_w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.00100*(#ppt_w))+0.81547*(#ppt_w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.00100*(#ppt_w))+0.84426*(#ppt_w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.00100*(#ppt_w))+0.86854*(#ppt_w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.00100*(#ppt_w))+0.88909*(#ppt_w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.00100*(#ppt_w))+0.90650*(#ppt_w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.00100*(#ppt_w))+0.92128*(#ppt_w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.00100*(#ppt_w))+0.93384*(#ppt_w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.00100*(#ppt_w))+0.94453*(#ppt_w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.00100*(#ppt_w))+0.95363*(#ppt_w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.00100*(#ppt_w))+0.96137*(#ppt_w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.00100*(#ppt_w))+0.96795*(#ppt_w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.00100*(#ppt_w))+0.97356*(#ppt_w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.00100*(#ppt_w))+0.97848*(#ppt_w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.00100*(#ppt_w))+0.98283*(#ppt_w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.00100*(#ppt_w))+0.98663*(#ppt_w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.00100*(#ppt_w))+0.98993*(#ppt_w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.00100*(#ppt_w))+0.99274*(#ppt_w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.00100*(#ppt_w))+0.99510*(#ppt_w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.00100*(#ppt_w))+0.99701*(#ppt_w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.00100*(#ppt_w))+0.99848*(#ppt_w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.00100*(#ppt_w))+0.99951*(#ppt_w)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9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0100*(#ppt_h)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.00100*(#ppt_h))+0.14416*(#ppt_h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.00100*(#ppt_h))+0.27304*(#ppt_h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.00100*(#ppt_h))+0.38576*(#ppt_h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.00100*(#ppt_h))+0.48262*(#ppt_h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.00100*(#ppt_h))+0.56479*(#ppt_h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.00100*(#ppt_h))+0.63397*(#ppt_h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.00100*(#ppt_h))+0.69198*(#ppt_h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.00100*(#ppt_h))+0.74056*(#ppt_h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.00100*(#ppt_h))+0.78128*(#ppt_h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.00100*(#ppt_h))+0.81547*(#ppt_h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.00100*(#ppt_h))+0.84426*(#ppt_h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.00100*(#ppt_h))+0.86854*(#ppt_h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.00100*(#ppt_h))+0.88909*(#ppt_h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.00100*(#ppt_h))+0.90650*(#ppt_h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.00100*(#ppt_h))+0.92128*(#ppt_h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.00100*(#ppt_h))+0.93384*(#ppt_h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.00100*(#ppt_h))+0.94453*(#ppt_h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.00100*(#ppt_h))+0.95363*(#ppt_h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.00100*(#ppt_h))+0.96137*(#ppt_h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.00100*(#ppt_h))+0.96795*(#ppt_h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.00100*(#ppt_h))+0.97356*(#ppt_h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.00100*(#ppt_h))+0.97848*(#ppt_h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.00100*(#ppt_h))+0.98283*(#ppt_h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.00100*(#ppt_h))+0.98663*(#ppt_h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.00100*(#ppt_h))+0.98993*(#ppt_h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.00100*(#ppt_h))+0.99274*(#ppt_h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.00100*(#ppt_h))+0.99510*(#ppt_h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.00100*(#ppt_h))+0.99701*(#ppt_h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.00100*(#ppt_h))+0.99848*(#ppt_h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.00100*(#ppt_h))+0.99951*(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70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31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5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.5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.5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.5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.5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.5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.5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.5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.5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.5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.5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.5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.5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.5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.5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.5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.5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.5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.5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.5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.5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.5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.5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.5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.5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.5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.5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.5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.5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.5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.5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2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5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.5)+0.14416*(#ppt_y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.5)+0.27304*(#ppt_y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.5)+0.38576*(#ppt_y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.5)+0.48262*(#ppt_y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.5)+0.56479*(#ppt_y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.5)+0.63397*(#ppt_y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.5)+0.69198*(#ppt_y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.5)+0.74056*(#ppt_y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.5)+0.78128*(#ppt_y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.5)+0.81547*(#ppt_y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.5)+0.84426*(#ppt_y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.5)+0.86854*(#ppt_y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.5)+0.88909*(#ppt_y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.5)+0.90650*(#ppt_y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.5)+0.92128*(#ppt_y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.5)+0.93384*(#ppt_y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.5)+0.94453*(#ppt_y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.5)+0.95363*(#ppt_y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.5)+0.96137*(#ppt_y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.5)+0.96795*(#ppt_y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.5)+0.97356*(#ppt_y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.5)+0.97848*(#ppt_y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.5)+0.98283*(#ppt_y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.5)+0.98663*(#ppt_y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.5)+0.98993*(#ppt_y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.5)+0.99274*(#ppt_y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.5)+0.99510*(#ppt_y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.5)+0.99701*(#ppt_y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.5)+0.99848*(#ppt_y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.5)+0.99951*(#ppt_y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53" presetClass="entr" presetSubtype="528" decel="5000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5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0100*(#ppt_w)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.00100*(#ppt_w))+0.14416*(#ppt_w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.00100*(#ppt_w))+0.27304*(#ppt_w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.00100*(#ppt_w))+0.38576*(#ppt_w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.00100*(#ppt_w))+0.48262*(#ppt_w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.00100*(#ppt_w))+0.56479*(#ppt_w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.00100*(#ppt_w))+0.63397*(#ppt_w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.00100*(#ppt_w))+0.69198*(#ppt_w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.00100*(#ppt_w))+0.74056*(#ppt_w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.00100*(#ppt_w))+0.78128*(#ppt_w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.00100*(#ppt_w))+0.81547*(#ppt_w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.00100*(#ppt_w))+0.84426*(#ppt_w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.00100*(#ppt_w))+0.86854*(#ppt_w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.00100*(#ppt_w))+0.88909*(#ppt_w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.00100*(#ppt_w))+0.90650*(#ppt_w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.00100*(#ppt_w))+0.92128*(#ppt_w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.00100*(#ppt_w))+0.93384*(#ppt_w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.00100*(#ppt_w))+0.94453*(#ppt_w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.00100*(#ppt_w))+0.95363*(#ppt_w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.00100*(#ppt_w))+0.96137*(#ppt_w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.00100*(#ppt_w))+0.96795*(#ppt_w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.00100*(#ppt_w))+0.97356*(#ppt_w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.00100*(#ppt_w))+0.97848*(#ppt_w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.00100*(#ppt_w))+0.98283*(#ppt_w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.00100*(#ppt_w))+0.98663*(#ppt_w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.00100*(#ppt_w))+0.98993*(#ppt_w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.00100*(#ppt_w))+0.99274*(#ppt_w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.00100*(#ppt_w))+0.99510*(#ppt_w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.00100*(#ppt_w))+0.99701*(#ppt_w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.00100*(#ppt_w))+0.99848*(#ppt_w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.00100*(#ppt_w))+0.99951*(#ppt_w)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6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0100*(#ppt_h)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.00100*(#ppt_h))+0.14416*(#ppt_h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.00100*(#ppt_h))+0.27304*(#ppt_h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.00100*(#ppt_h))+0.38576*(#ppt_h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.00100*(#ppt_h))+0.48262*(#ppt_h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.00100*(#ppt_h))+0.56479*(#ppt_h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.00100*(#ppt_h))+0.63397*(#ppt_h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.00100*(#ppt_h))+0.69198*(#ppt_h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.00100*(#ppt_h))+0.74056*(#ppt_h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.00100*(#ppt_h))+0.78128*(#ppt_h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.00100*(#ppt_h))+0.81547*(#ppt_h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.00100*(#ppt_h))+0.84426*(#ppt_h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.00100*(#ppt_h))+0.86854*(#ppt_h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.00100*(#ppt_h))+0.88909*(#ppt_h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.00100*(#ppt_h))+0.90650*(#ppt_h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.00100*(#ppt_h))+0.92128*(#ppt_h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.00100*(#ppt_h))+0.93384*(#ppt_h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.00100*(#ppt_h))+0.94453*(#ppt_h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.00100*(#ppt_h))+0.95363*(#ppt_h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.00100*(#ppt_h))+0.96137*(#ppt_h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.00100*(#ppt_h))+0.96795*(#ppt_h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.00100*(#ppt_h))+0.97356*(#ppt_h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.00100*(#ppt_h))+0.97848*(#ppt_h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.00100*(#ppt_h))+0.98283*(#ppt_h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.00100*(#ppt_h))+0.98663*(#ppt_h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.00100*(#ppt_h))+0.98993*(#ppt_h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.00100*(#ppt_h))+0.99274*(#ppt_h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.00100*(#ppt_h))+0.99510*(#ppt_h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.00100*(#ppt_h))+0.99701*(#ppt_h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.00100*(#ppt_h))+0.99848*(#ppt_h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.00100*(#ppt_h))+0.99951*(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700" fill="hold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38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5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.5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.5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.5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.5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.5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.5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.5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.5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.5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.5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.5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.5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.5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.5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.5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.5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.5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.5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.5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.5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.5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.5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.5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.5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.5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.5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.5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.5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.5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.5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9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5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.5)+0.14416*(#ppt_y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.5)+0.27304*(#ppt_y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.5)+0.38576*(#ppt_y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.5)+0.48262*(#ppt_y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.5)+0.56479*(#ppt_y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.5)+0.63397*(#ppt_y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.5)+0.69198*(#ppt_y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.5)+0.74056*(#ppt_y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.5)+0.78128*(#ppt_y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.5)+0.81547*(#ppt_y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.5)+0.84426*(#ppt_y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.5)+0.86854*(#ppt_y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.5)+0.88909*(#ppt_y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.5)+0.90650*(#ppt_y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.5)+0.92128*(#ppt_y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.5)+0.93384*(#ppt_y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.5)+0.94453*(#ppt_y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.5)+0.95363*(#ppt_y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.5)+0.96137*(#ppt_y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.5)+0.96795*(#ppt_y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.5)+0.97356*(#ppt_y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.5)+0.97848*(#ppt_y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.5)+0.98283*(#ppt_y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.5)+0.98663*(#ppt_y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.5)+0.98993*(#ppt_y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.5)+0.99274*(#ppt_y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.5)+0.99510*(#ppt_y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.5)+0.99701*(#ppt_y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.5)+0.99848*(#ppt_y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.5)+0.99951*(#ppt_y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528" decel="5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2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0100*(#ppt_w)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.00100*(#ppt_w))+0.14416*(#ppt_w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.00100*(#ppt_w))+0.27304*(#ppt_w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.00100*(#ppt_w))+0.38576*(#ppt_w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.00100*(#ppt_w))+0.48262*(#ppt_w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.00100*(#ppt_w))+0.56479*(#ppt_w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.00100*(#ppt_w))+0.63397*(#ppt_w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.00100*(#ppt_w))+0.69198*(#ppt_w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.00100*(#ppt_w))+0.74056*(#ppt_w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.00100*(#ppt_w))+0.78128*(#ppt_w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.00100*(#ppt_w))+0.81547*(#ppt_w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.00100*(#ppt_w))+0.84426*(#ppt_w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.00100*(#ppt_w))+0.86854*(#ppt_w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.00100*(#ppt_w))+0.88909*(#ppt_w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.00100*(#ppt_w))+0.90650*(#ppt_w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.00100*(#ppt_w))+0.92128*(#ppt_w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.00100*(#ppt_w))+0.93384*(#ppt_w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.00100*(#ppt_w))+0.94453*(#ppt_w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.00100*(#ppt_w))+0.95363*(#ppt_w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.00100*(#ppt_w))+0.96137*(#ppt_w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.00100*(#ppt_w))+0.96795*(#ppt_w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.00100*(#ppt_w))+0.97356*(#ppt_w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.00100*(#ppt_w))+0.97848*(#ppt_w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.00100*(#ppt_w))+0.98283*(#ppt_w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.00100*(#ppt_w))+0.98663*(#ppt_w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.00100*(#ppt_w))+0.98993*(#ppt_w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.00100*(#ppt_w))+0.99274*(#ppt_w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.00100*(#ppt_w))+0.99510*(#ppt_w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.00100*(#ppt_w))+0.99701*(#ppt_w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.00100*(#ppt_w))+0.99848*(#ppt_w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.00100*(#ppt_w))+0.99951*(#ppt_w)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3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0100*(#ppt_h)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.00100*(#ppt_h))+0.14416*(#ppt_h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.00100*(#ppt_h))+0.27304*(#ppt_h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.00100*(#ppt_h))+0.38576*(#ppt_h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.00100*(#ppt_h))+0.48262*(#ppt_h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.00100*(#ppt_h))+0.56479*(#ppt_h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.00100*(#ppt_h))+0.63397*(#ppt_h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.00100*(#ppt_h))+0.69198*(#ppt_h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.00100*(#ppt_h))+0.74056*(#ppt_h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.00100*(#ppt_h))+0.78128*(#ppt_h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.00100*(#ppt_h))+0.81547*(#ppt_h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.00100*(#ppt_h))+0.84426*(#ppt_h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.00100*(#ppt_h))+0.86854*(#ppt_h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.00100*(#ppt_h))+0.88909*(#ppt_h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.00100*(#ppt_h))+0.90650*(#ppt_h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.00100*(#ppt_h))+0.92128*(#ppt_h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.00100*(#ppt_h))+0.93384*(#ppt_h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.00100*(#ppt_h))+0.94453*(#ppt_h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.00100*(#ppt_h))+0.95363*(#ppt_h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.00100*(#ppt_h))+0.96137*(#ppt_h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.00100*(#ppt_h))+0.96795*(#ppt_h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.00100*(#ppt_h))+0.97356*(#ppt_h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.00100*(#ppt_h))+0.97848*(#ppt_h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.00100*(#ppt_h))+0.98283*(#ppt_h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.00100*(#ppt_h))+0.98663*(#ppt_h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.00100*(#ppt_h))+0.98993*(#ppt_h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.00100*(#ppt_h))+0.99274*(#ppt_h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.00100*(#ppt_h))+0.99510*(#ppt_h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.00100*(#ppt_h))+0.99701*(#ppt_h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.00100*(#ppt_h))+0.99848*(#ppt_h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.00100*(#ppt_h))+0.99951*(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700" fill="hold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45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5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.5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.5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.5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.5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.5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.5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.5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.5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.5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.5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.5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.5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.5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.5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.5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.5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.5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.5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.5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.5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.5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.5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.5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.5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.5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.5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.5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.5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.5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.5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6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5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.5)+0.14416*(#ppt_y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.5)+0.27304*(#ppt_y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.5)+0.38576*(#ppt_y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.5)+0.48262*(#ppt_y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.5)+0.56479*(#ppt_y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.5)+0.63397*(#ppt_y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.5)+0.69198*(#ppt_y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.5)+0.74056*(#ppt_y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.5)+0.78128*(#ppt_y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.5)+0.81547*(#ppt_y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.5)+0.84426*(#ppt_y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.5)+0.86854*(#ppt_y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.5)+0.88909*(#ppt_y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.5)+0.90650*(#ppt_y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.5)+0.92128*(#ppt_y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.5)+0.93384*(#ppt_y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.5)+0.94453*(#ppt_y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.5)+0.95363*(#ppt_y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.5)+0.96137*(#ppt_y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.5)+0.96795*(#ppt_y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.5)+0.97356*(#ppt_y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.5)+0.97848*(#ppt_y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.5)+0.98283*(#ppt_y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.5)+0.98663*(#ppt_y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.5)+0.98993*(#ppt_y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.5)+0.99274*(#ppt_y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.5)+0.99510*(#ppt_y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.5)+0.99701*(#ppt_y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.5)+0.99848*(#ppt_y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.5)+0.99951*(#ppt_y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53" presetClass="entr" presetSubtype="528" decel="5000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9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0100*(#ppt_w)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.00100*(#ppt_w))+0.14416*(#ppt_w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.00100*(#ppt_w))+0.27304*(#ppt_w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.00100*(#ppt_w))+0.38576*(#ppt_w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.00100*(#ppt_w))+0.48262*(#ppt_w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.00100*(#ppt_w))+0.56479*(#ppt_w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.00100*(#ppt_w))+0.63397*(#ppt_w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.00100*(#ppt_w))+0.69198*(#ppt_w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.00100*(#ppt_w))+0.74056*(#ppt_w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.00100*(#ppt_w))+0.78128*(#ppt_w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.00100*(#ppt_w))+0.81547*(#ppt_w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.00100*(#ppt_w))+0.84426*(#ppt_w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.00100*(#ppt_w))+0.86854*(#ppt_w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.00100*(#ppt_w))+0.88909*(#ppt_w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.00100*(#ppt_w))+0.90650*(#ppt_w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.00100*(#ppt_w))+0.92128*(#ppt_w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.00100*(#ppt_w))+0.93384*(#ppt_w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.00100*(#ppt_w))+0.94453*(#ppt_w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.00100*(#ppt_w))+0.95363*(#ppt_w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.00100*(#ppt_w))+0.96137*(#ppt_w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.00100*(#ppt_w))+0.96795*(#ppt_w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.00100*(#ppt_w))+0.97356*(#ppt_w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.00100*(#ppt_w))+0.97848*(#ppt_w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.00100*(#ppt_w))+0.98283*(#ppt_w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.00100*(#ppt_w))+0.98663*(#ppt_w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.00100*(#ppt_w))+0.98993*(#ppt_w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.00100*(#ppt_w))+0.99274*(#ppt_w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.00100*(#ppt_w))+0.99510*(#ppt_w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.00100*(#ppt_w))+0.99701*(#ppt_w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.00100*(#ppt_w))+0.99848*(#ppt_w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.00100*(#ppt_w))+0.99951*(#ppt_w)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0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0100*(#ppt_h)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.00100*(#ppt_h))+0.14416*(#ppt_h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.00100*(#ppt_h))+0.27304*(#ppt_h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.00100*(#ppt_h))+0.38576*(#ppt_h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.00100*(#ppt_h))+0.48262*(#ppt_h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.00100*(#ppt_h))+0.56479*(#ppt_h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.00100*(#ppt_h))+0.63397*(#ppt_h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.00100*(#ppt_h))+0.69198*(#ppt_h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.00100*(#ppt_h))+0.74056*(#ppt_h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.00100*(#ppt_h))+0.78128*(#ppt_h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.00100*(#ppt_h))+0.81547*(#ppt_h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.00100*(#ppt_h))+0.84426*(#ppt_h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.00100*(#ppt_h))+0.86854*(#ppt_h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.00100*(#ppt_h))+0.88909*(#ppt_h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.00100*(#ppt_h))+0.90650*(#ppt_h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.00100*(#ppt_h))+0.92128*(#ppt_h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.00100*(#ppt_h))+0.93384*(#ppt_h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.00100*(#ppt_h))+0.94453*(#ppt_h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.00100*(#ppt_h))+0.95363*(#ppt_h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.00100*(#ppt_h))+0.96137*(#ppt_h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.00100*(#ppt_h))+0.96795*(#ppt_h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.00100*(#ppt_h))+0.97356*(#ppt_h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.00100*(#ppt_h))+0.97848*(#ppt_h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.00100*(#ppt_h))+0.98283*(#ppt_h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.00100*(#ppt_h))+0.98663*(#ppt_h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.00100*(#ppt_h))+0.98993*(#ppt_h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.00100*(#ppt_h))+0.99274*(#ppt_h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.00100*(#ppt_h))+0.99510*(#ppt_h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.00100*(#ppt_h))+0.99701*(#ppt_h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.00100*(#ppt_h))+0.99848*(#ppt_h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.00100*(#ppt_h))+0.99951*(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70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52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5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.5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.5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.5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.5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.5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.5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.5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.5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.5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.5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.5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.5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.5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.5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.5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.5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.5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.5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.5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.5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.5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.5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.5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.5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.5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.5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.5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.5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.5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.5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3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5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.5)+0.14416*(#ppt_y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.5)+0.27304*(#ppt_y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.5)+0.38576*(#ppt_y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.5)+0.48262*(#ppt_y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.5)+0.56479*(#ppt_y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.5)+0.63397*(#ppt_y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.5)+0.69198*(#ppt_y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.5)+0.74056*(#ppt_y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.5)+0.78128*(#ppt_y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.5)+0.81547*(#ppt_y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.5)+0.84426*(#ppt_y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.5)+0.86854*(#ppt_y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.5)+0.88909*(#ppt_y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.5)+0.90650*(#ppt_y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.5)+0.92128*(#ppt_y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.5)+0.93384*(#ppt_y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.5)+0.94453*(#ppt_y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.5)+0.95363*(#ppt_y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.5)+0.96137*(#ppt_y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.5)+0.96795*(#ppt_y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.5)+0.97356*(#ppt_y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.5)+0.97848*(#ppt_y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.5)+0.98283*(#ppt_y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.5)+0.98663*(#ppt_y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.5)+0.98993*(#ppt_y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.5)+0.99274*(#ppt_y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.5)+0.99510*(#ppt_y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.5)+0.99701*(#ppt_y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.5)+0.99848*(#ppt_y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.5)+0.99951*(#ppt_y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53" presetClass="entr" presetSubtype="528" decel="5000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6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0100*(#ppt_w)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.00100*(#ppt_w))+0.14416*(#ppt_w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.00100*(#ppt_w))+0.27304*(#ppt_w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.00100*(#ppt_w))+0.38576*(#ppt_w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.00100*(#ppt_w))+0.48262*(#ppt_w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.00100*(#ppt_w))+0.56479*(#ppt_w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.00100*(#ppt_w))+0.63397*(#ppt_w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.00100*(#ppt_w))+0.69198*(#ppt_w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.00100*(#ppt_w))+0.74056*(#ppt_w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.00100*(#ppt_w))+0.78128*(#ppt_w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.00100*(#ppt_w))+0.81547*(#ppt_w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.00100*(#ppt_w))+0.84426*(#ppt_w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.00100*(#ppt_w))+0.86854*(#ppt_w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.00100*(#ppt_w))+0.88909*(#ppt_w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.00100*(#ppt_w))+0.90650*(#ppt_w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.00100*(#ppt_w))+0.92128*(#ppt_w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.00100*(#ppt_w))+0.93384*(#ppt_w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.00100*(#ppt_w))+0.94453*(#ppt_w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.00100*(#ppt_w))+0.95363*(#ppt_w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.00100*(#ppt_w))+0.96137*(#ppt_w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.00100*(#ppt_w))+0.96795*(#ppt_w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.00100*(#ppt_w))+0.97356*(#ppt_w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.00100*(#ppt_w))+0.97848*(#ppt_w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.00100*(#ppt_w))+0.98283*(#ppt_w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.00100*(#ppt_w))+0.98663*(#ppt_w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.00100*(#ppt_w))+0.98993*(#ppt_w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.00100*(#ppt_w))+0.99274*(#ppt_w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.00100*(#ppt_w))+0.99510*(#ppt_w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.00100*(#ppt_w))+0.99701*(#ppt_w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.00100*(#ppt_w))+0.99848*(#ppt_w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.00100*(#ppt_w))+0.99951*(#ppt_w)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7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0100*(#ppt_h)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.00100*(#ppt_h))+0.14416*(#ppt_h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.00100*(#ppt_h))+0.27304*(#ppt_h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.00100*(#ppt_h))+0.38576*(#ppt_h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.00100*(#ppt_h))+0.48262*(#ppt_h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.00100*(#ppt_h))+0.56479*(#ppt_h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.00100*(#ppt_h))+0.63397*(#ppt_h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.00100*(#ppt_h))+0.69198*(#ppt_h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.00100*(#ppt_h))+0.74056*(#ppt_h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.00100*(#ppt_h))+0.78128*(#ppt_h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.00100*(#ppt_h))+0.81547*(#ppt_h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.00100*(#ppt_h))+0.84426*(#ppt_h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.00100*(#ppt_h))+0.86854*(#ppt_h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.00100*(#ppt_h))+0.88909*(#ppt_h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.00100*(#ppt_h))+0.90650*(#ppt_h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.00100*(#ppt_h))+0.92128*(#ppt_h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.00100*(#ppt_h))+0.93384*(#ppt_h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.00100*(#ppt_h))+0.94453*(#ppt_h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.00100*(#ppt_h))+0.95363*(#ppt_h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.00100*(#ppt_h))+0.96137*(#ppt_h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.00100*(#ppt_h))+0.96795*(#ppt_h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.00100*(#ppt_h))+0.97356*(#ppt_h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.00100*(#ppt_h))+0.97848*(#ppt_h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.00100*(#ppt_h))+0.98283*(#ppt_h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.00100*(#ppt_h))+0.98663*(#ppt_h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.00100*(#ppt_h))+0.98993*(#ppt_h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.00100*(#ppt_h))+0.99274*(#ppt_h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.00100*(#ppt_h))+0.99510*(#ppt_h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.00100*(#ppt_h))+0.99701*(#ppt_h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.00100*(#ppt_h))+0.99848*(#ppt_h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.00100*(#ppt_h))+0.99951*(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70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59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5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.5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.5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.5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.5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.5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.5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.5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.5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.5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.5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.5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.5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.5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.5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.5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.5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.5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.5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.5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.5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.5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.5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.5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.5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.5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.5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.5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.5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.5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.5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0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5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.5)+0.14416*(#ppt_y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.5)+0.27304*(#ppt_y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.5)+0.38576*(#ppt_y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.5)+0.48262*(#ppt_y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.5)+0.56479*(#ppt_y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.5)+0.63397*(#ppt_y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.5)+0.69198*(#ppt_y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.5)+0.74056*(#ppt_y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.5)+0.78128*(#ppt_y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.5)+0.81547*(#ppt_y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.5)+0.84426*(#ppt_y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.5)+0.86854*(#ppt_y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.5)+0.88909*(#ppt_y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.5)+0.90650*(#ppt_y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.5)+0.92128*(#ppt_y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.5)+0.93384*(#ppt_y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.5)+0.94453*(#ppt_y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.5)+0.95363*(#ppt_y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.5)+0.96137*(#ppt_y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.5)+0.96795*(#ppt_y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.5)+0.97356*(#ppt_y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.5)+0.97848*(#ppt_y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.5)+0.98283*(#ppt_y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.5)+0.98663*(#ppt_y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.5)+0.98993*(#ppt_y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.5)+0.99274*(#ppt_y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.5)+0.99510*(#ppt_y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.5)+0.99701*(#ppt_y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.5)+0.99848*(#ppt_y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.5)+0.99951*(#ppt_y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53" presetClass="entr" presetSubtype="528" decel="5000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3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0100*(#ppt_w)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.00100*(#ppt_w))+0.14416*(#ppt_w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.00100*(#ppt_w))+0.27304*(#ppt_w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.00100*(#ppt_w))+0.38576*(#ppt_w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.00100*(#ppt_w))+0.48262*(#ppt_w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.00100*(#ppt_w))+0.56479*(#ppt_w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.00100*(#ppt_w))+0.63397*(#ppt_w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.00100*(#ppt_w))+0.69198*(#ppt_w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.00100*(#ppt_w))+0.74056*(#ppt_w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.00100*(#ppt_w))+0.78128*(#ppt_w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.00100*(#ppt_w))+0.81547*(#ppt_w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.00100*(#ppt_w))+0.84426*(#ppt_w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.00100*(#ppt_w))+0.86854*(#ppt_w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.00100*(#ppt_w))+0.88909*(#ppt_w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.00100*(#ppt_w))+0.90650*(#ppt_w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.00100*(#ppt_w))+0.92128*(#ppt_w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.00100*(#ppt_w))+0.93384*(#ppt_w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.00100*(#ppt_w))+0.94453*(#ppt_w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.00100*(#ppt_w))+0.95363*(#ppt_w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.00100*(#ppt_w))+0.96137*(#ppt_w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.00100*(#ppt_w))+0.96795*(#ppt_w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.00100*(#ppt_w))+0.97356*(#ppt_w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.00100*(#ppt_w))+0.97848*(#ppt_w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.00100*(#ppt_w))+0.98283*(#ppt_w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.00100*(#ppt_w))+0.98663*(#ppt_w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.00100*(#ppt_w))+0.98993*(#ppt_w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.00100*(#ppt_w))+0.99274*(#ppt_w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.00100*(#ppt_w))+0.99510*(#ppt_w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.00100*(#ppt_w))+0.99701*(#ppt_w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.00100*(#ppt_w))+0.99848*(#ppt_w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.00100*(#ppt_w))+0.99951*(#ppt_w)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4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0100*(#ppt_h)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.00100*(#ppt_h))+0.14416*(#ppt_h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.00100*(#ppt_h))+0.27304*(#ppt_h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.00100*(#ppt_h))+0.38576*(#ppt_h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.00100*(#ppt_h))+0.48262*(#ppt_h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.00100*(#ppt_h))+0.56479*(#ppt_h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.00100*(#ppt_h))+0.63397*(#ppt_h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.00100*(#ppt_h))+0.69198*(#ppt_h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.00100*(#ppt_h))+0.74056*(#ppt_h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.00100*(#ppt_h))+0.78128*(#ppt_h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.00100*(#ppt_h))+0.81547*(#ppt_h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.00100*(#ppt_h))+0.84426*(#ppt_h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.00100*(#ppt_h))+0.86854*(#ppt_h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.00100*(#ppt_h))+0.88909*(#ppt_h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.00100*(#ppt_h))+0.90650*(#ppt_h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.00100*(#ppt_h))+0.92128*(#ppt_h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.00100*(#ppt_h))+0.93384*(#ppt_h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.00100*(#ppt_h))+0.94453*(#ppt_h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.00100*(#ppt_h))+0.95363*(#ppt_h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.00100*(#ppt_h))+0.96137*(#ppt_h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.00100*(#ppt_h))+0.96795*(#ppt_h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.00100*(#ppt_h))+0.97356*(#ppt_h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.00100*(#ppt_h))+0.97848*(#ppt_h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.00100*(#ppt_h))+0.98283*(#ppt_h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.00100*(#ppt_h))+0.98663*(#ppt_h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.00100*(#ppt_h))+0.98993*(#ppt_h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.00100*(#ppt_h))+0.99274*(#ppt_h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.00100*(#ppt_h))+0.99510*(#ppt_h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.00100*(#ppt_h))+0.99701*(#ppt_h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.00100*(#ppt_h))+0.99848*(#ppt_h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.00100*(#ppt_h))+0.99951*(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700" fill="hold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66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5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.5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.5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.5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.5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.5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.5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.5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.5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.5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.5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.5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.5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.5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.5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.5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.5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.5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.5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.5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.5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.5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.5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.5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.5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.5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.5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.5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.5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.5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.5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7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5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.5)+0.14416*(#ppt_y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.5)+0.27304*(#ppt_y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.5)+0.38576*(#ppt_y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.5)+0.48262*(#ppt_y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.5)+0.56479*(#ppt_y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.5)+0.63397*(#ppt_y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.5)+0.69198*(#ppt_y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.5)+0.74056*(#ppt_y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.5)+0.78128*(#ppt_y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.5)+0.81547*(#ppt_y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.5)+0.84426*(#ppt_y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.5)+0.86854*(#ppt_y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.5)+0.88909*(#ppt_y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.5)+0.90650*(#ppt_y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.5)+0.92128*(#ppt_y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.5)+0.93384*(#ppt_y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.5)+0.94453*(#ppt_y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.5)+0.95363*(#ppt_y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.5)+0.96137*(#ppt_y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.5)+0.96795*(#ppt_y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.5)+0.97356*(#ppt_y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.5)+0.97848*(#ppt_y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.5)+0.98283*(#ppt_y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.5)+0.98663*(#ppt_y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.5)+0.98993*(#ppt_y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.5)+0.99274*(#ppt_y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.5)+0.99510*(#ppt_y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.5)+0.99701*(#ppt_y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.5)+0.99848*(#ppt_y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.5)+0.99951*(#ppt_y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53" presetClass="entr" presetSubtype="528" decel="5000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0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0100*(#ppt_w)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.00100*(#ppt_w))+0.14416*(#ppt_w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.00100*(#ppt_w))+0.27304*(#ppt_w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.00100*(#ppt_w))+0.38576*(#ppt_w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.00100*(#ppt_w))+0.48262*(#ppt_w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.00100*(#ppt_w))+0.56479*(#ppt_w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.00100*(#ppt_w))+0.63397*(#ppt_w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.00100*(#ppt_w))+0.69198*(#ppt_w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.00100*(#ppt_w))+0.74056*(#ppt_w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.00100*(#ppt_w))+0.78128*(#ppt_w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.00100*(#ppt_w))+0.81547*(#ppt_w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.00100*(#ppt_w))+0.84426*(#ppt_w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.00100*(#ppt_w))+0.86854*(#ppt_w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.00100*(#ppt_w))+0.88909*(#ppt_w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.00100*(#ppt_w))+0.90650*(#ppt_w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.00100*(#ppt_w))+0.92128*(#ppt_w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.00100*(#ppt_w))+0.93384*(#ppt_w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.00100*(#ppt_w))+0.94453*(#ppt_w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.00100*(#ppt_w))+0.95363*(#ppt_w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.00100*(#ppt_w))+0.96137*(#ppt_w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.00100*(#ppt_w))+0.96795*(#ppt_w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.00100*(#ppt_w))+0.97356*(#ppt_w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.00100*(#ppt_w))+0.97848*(#ppt_w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.00100*(#ppt_w))+0.98283*(#ppt_w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.00100*(#ppt_w))+0.98663*(#ppt_w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.00100*(#ppt_w))+0.98993*(#ppt_w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.00100*(#ppt_w))+0.99274*(#ppt_w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.00100*(#ppt_w))+0.99510*(#ppt_w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.00100*(#ppt_w))+0.99701*(#ppt_w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.00100*(#ppt_w))+0.99848*(#ppt_w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.00100*(#ppt_w))+0.99951*(#ppt_w)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1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0100*(#ppt_h)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.00100*(#ppt_h))+0.14416*(#ppt_h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.00100*(#ppt_h))+0.27304*(#ppt_h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.00100*(#ppt_h))+0.38576*(#ppt_h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.00100*(#ppt_h))+0.48262*(#ppt_h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.00100*(#ppt_h))+0.56479*(#ppt_h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.00100*(#ppt_h))+0.63397*(#ppt_h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.00100*(#ppt_h))+0.69198*(#ppt_h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.00100*(#ppt_h))+0.74056*(#ppt_h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.00100*(#ppt_h))+0.78128*(#ppt_h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.00100*(#ppt_h))+0.81547*(#ppt_h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.00100*(#ppt_h))+0.84426*(#ppt_h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.00100*(#ppt_h))+0.86854*(#ppt_h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.00100*(#ppt_h))+0.88909*(#ppt_h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.00100*(#ppt_h))+0.90650*(#ppt_h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.00100*(#ppt_h))+0.92128*(#ppt_h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.00100*(#ppt_h))+0.93384*(#ppt_h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.00100*(#ppt_h))+0.94453*(#ppt_h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.00100*(#ppt_h))+0.95363*(#ppt_h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.00100*(#ppt_h))+0.96137*(#ppt_h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.00100*(#ppt_h))+0.96795*(#ppt_h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.00100*(#ppt_h))+0.97356*(#ppt_h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.00100*(#ppt_h))+0.97848*(#ppt_h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.00100*(#ppt_h))+0.98283*(#ppt_h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.00100*(#ppt_h))+0.98663*(#ppt_h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.00100*(#ppt_h))+0.98993*(#ppt_h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.00100*(#ppt_h))+0.99274*(#ppt_h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.00100*(#ppt_h))+0.99510*(#ppt_h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.00100*(#ppt_h))+0.99701*(#ppt_h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.00100*(#ppt_h))+0.99848*(#ppt_h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.00100*(#ppt_h))+0.99951*(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70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73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5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.5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.5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.5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.5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.5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.5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.5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.5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.5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.5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.5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.5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.5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.5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.5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.5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.5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.5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.5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.5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.5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.5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.5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.5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.5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.5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.5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.5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.5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.5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4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5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.5)+0.14416*(#ppt_y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.5)+0.27304*(#ppt_y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.5)+0.38576*(#ppt_y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.5)+0.48262*(#ppt_y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.5)+0.56479*(#ppt_y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.5)+0.63397*(#ppt_y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.5)+0.69198*(#ppt_y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.5)+0.74056*(#ppt_y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.5)+0.78128*(#ppt_y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.5)+0.81547*(#ppt_y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.5)+0.84426*(#ppt_y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.5)+0.86854*(#ppt_y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.5)+0.88909*(#ppt_y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.5)+0.90650*(#ppt_y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.5)+0.92128*(#ppt_y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.5)+0.93384*(#ppt_y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.5)+0.94453*(#ppt_y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.5)+0.95363*(#ppt_y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.5)+0.96137*(#ppt_y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.5)+0.96795*(#ppt_y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.5)+0.97356*(#ppt_y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.5)+0.97848*(#ppt_y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.5)+0.98283*(#ppt_y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.5)+0.98663*(#ppt_y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.5)+0.98993*(#ppt_y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.5)+0.99274*(#ppt_y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.5)+0.99510*(#ppt_y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.5)+0.99701*(#ppt_y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.5)+0.99848*(#ppt_y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.5)+0.99951*(#ppt_y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53" presetClass="entr" presetSubtype="528" decel="5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7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0100*(#ppt_w)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.00100*(#ppt_w))+0.14416*(#ppt_w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.00100*(#ppt_w))+0.27304*(#ppt_w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.00100*(#ppt_w))+0.38576*(#ppt_w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.00100*(#ppt_w))+0.48262*(#ppt_w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.00100*(#ppt_w))+0.56479*(#ppt_w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.00100*(#ppt_w))+0.63397*(#ppt_w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.00100*(#ppt_w))+0.69198*(#ppt_w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.00100*(#ppt_w))+0.74056*(#ppt_w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.00100*(#ppt_w))+0.78128*(#ppt_w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.00100*(#ppt_w))+0.81547*(#ppt_w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.00100*(#ppt_w))+0.84426*(#ppt_w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.00100*(#ppt_w))+0.86854*(#ppt_w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.00100*(#ppt_w))+0.88909*(#ppt_w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.00100*(#ppt_w))+0.90650*(#ppt_w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.00100*(#ppt_w))+0.92128*(#ppt_w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.00100*(#ppt_w))+0.93384*(#ppt_w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.00100*(#ppt_w))+0.94453*(#ppt_w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.00100*(#ppt_w))+0.95363*(#ppt_w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.00100*(#ppt_w))+0.96137*(#ppt_w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.00100*(#ppt_w))+0.96795*(#ppt_w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.00100*(#ppt_w))+0.97356*(#ppt_w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.00100*(#ppt_w))+0.97848*(#ppt_w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.00100*(#ppt_w))+0.98283*(#ppt_w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.00100*(#ppt_w))+0.98663*(#ppt_w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.00100*(#ppt_w))+0.98993*(#ppt_w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.00100*(#ppt_w))+0.99274*(#ppt_w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.00100*(#ppt_w))+0.99510*(#ppt_w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.00100*(#ppt_w))+0.99701*(#ppt_w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.00100*(#ppt_w))+0.99848*(#ppt_w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.00100*(#ppt_w))+0.99951*(#ppt_w)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8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00100*(#ppt_h)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.00100*(#ppt_h))+0.14416*(#ppt_h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.00100*(#ppt_h))+0.27304*(#ppt_h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.00100*(#ppt_h))+0.38576*(#ppt_h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.00100*(#ppt_h))+0.48262*(#ppt_h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.00100*(#ppt_h))+0.56479*(#ppt_h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.00100*(#ppt_h))+0.63397*(#ppt_h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.00100*(#ppt_h))+0.69198*(#ppt_h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.00100*(#ppt_h))+0.74056*(#ppt_h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.00100*(#ppt_h))+0.78128*(#ppt_h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.00100*(#ppt_h))+0.81547*(#ppt_h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.00100*(#ppt_h))+0.84426*(#ppt_h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.00100*(#ppt_h))+0.86854*(#ppt_h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.00100*(#ppt_h))+0.88909*(#ppt_h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.00100*(#ppt_h))+0.90650*(#ppt_h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.00100*(#ppt_h))+0.92128*(#ppt_h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.00100*(#ppt_h))+0.93384*(#ppt_h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.00100*(#ppt_h))+0.94453*(#ppt_h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.00100*(#ppt_h))+0.95363*(#ppt_h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.00100*(#ppt_h))+0.96137*(#ppt_h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.00100*(#ppt_h))+0.96795*(#ppt_h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.00100*(#ppt_h))+0.97356*(#ppt_h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.00100*(#ppt_h))+0.97848*(#ppt_h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.00100*(#ppt_h))+0.98283*(#ppt_h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.00100*(#ppt_h))+0.98663*(#ppt_h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.00100*(#ppt_h))+0.98993*(#ppt_h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.00100*(#ppt_h))+0.99274*(#ppt_h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.00100*(#ppt_h))+0.99510*(#ppt_h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.00100*(#ppt_h))+0.99701*(#ppt_h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.00100*(#ppt_h))+0.99848*(#ppt_h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.00100*(#ppt_h))+0.99951*(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70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80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5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.5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.5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.5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.5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.5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.5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.5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.5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.5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.5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.5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.5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.5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.5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.5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.5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.5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.5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.5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.5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.5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.5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.5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.5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.5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.5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.5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.5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.5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.5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1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.5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0.5)+0.14416*(#ppt_y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0.5)+0.27304*(#ppt_y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0.5)+0.38576*(#ppt_y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0.5)+0.48262*(#ppt_y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0.5)+0.56479*(#ppt_y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0.5)+0.63397*(#ppt_y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0.5)+0.69198*(#ppt_y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0.5)+0.74056*(#ppt_y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0.5)+0.78128*(#ppt_y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0.5)+0.81547*(#ppt_y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0.5)+0.84426*(#ppt_y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0.5)+0.86854*(#ppt_y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0.5)+0.88909*(#ppt_y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0.5)+0.90650*(#ppt_y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0.5)+0.92128*(#ppt_y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0.5)+0.93384*(#ppt_y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0.5)+0.94453*(#ppt_y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0.5)+0.95363*(#ppt_y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0.5)+0.96137*(#ppt_y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0.5)+0.96795*(#ppt_y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0.5)+0.97356*(#ppt_y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0.5)+0.97848*(#ppt_y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0.5)+0.98283*(#ppt_y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0.5)+0.98663*(#ppt_y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0.5)+0.98993*(#ppt_y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0.5)+0.99274*(#ppt_y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0.5)+0.99510*(#ppt_y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0.5)+0.99701*(#ppt_y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0.5)+0.99848*(#ppt_y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0.5)+0.99951*(#ppt_y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840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Four explanations for the April drop</a:t>
            </a:r>
            <a:endParaRPr lang="en-US" sz="2800" dirty="0"/>
          </a:p>
        </p:txBody>
      </p:sp>
      <p:sp>
        <p:nvSpPr>
          <p:cNvPr id="3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E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itle under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207008"/>
            <a:ext cx="1371600" cy="41148"/>
          </a:xfrm>
          <a:prstGeom prst="rect">
            <a:avLst/>
          </a:prstGeom>
          <a:solidFill>
            <a:srgbClr val="FF1E8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62362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HYPOTHESES TO TEST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64240" y="623620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5E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600200"/>
            <a:ext cx="5303520" cy="1874520"/>
          </a:xfrm>
          <a:prstGeom prst="rect">
            <a:avLst/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600200"/>
            <a:ext cx="54864" cy="1874520"/>
          </a:xfrm>
          <a:prstGeom prst="rect">
            <a:avLst/>
          </a:prstGeom>
          <a:solidFill>
            <a:srgbClr val="FF1E8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96112" y="17830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E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91640" y="176479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Partial month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91640" y="2240280"/>
            <a:ext cx="4023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D6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April data may simply be incomplete at extract time — check the load date first.</a:t>
            </a:r>
            <a:endParaRPr lang="en-US" sz="1200" dirty="0"/>
          </a:p>
        </p:txBody>
      </p:sp>
      <p:sp>
        <p:nvSpPr>
          <p:cNvPr id="12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0" y="1600200"/>
            <a:ext cx="5303520" cy="1874520"/>
          </a:xfrm>
          <a:prstGeom prst="rect">
            <a:avLst/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0" y="1600200"/>
            <a:ext cx="54864" cy="1874520"/>
          </a:xfrm>
          <a:prstGeom prst="rect">
            <a:avLst/>
          </a:prstGeom>
          <a:solidFill>
            <a:srgbClr val="FF1E8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473952" y="17830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E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269480" y="176479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Seasonal demand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269480" y="2240280"/>
            <a:ext cx="4023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D6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Post-March festivals and exam season change ordering behaviour.</a:t>
            </a:r>
            <a:endParaRPr lang="en-US" sz="1200" dirty="0"/>
          </a:p>
        </p:txBody>
      </p:sp>
      <p:sp>
        <p:nvSpPr>
          <p:cNvPr id="17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749040"/>
            <a:ext cx="5303520" cy="1874520"/>
          </a:xfrm>
          <a:prstGeom prst="rect">
            <a:avLst/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749040"/>
            <a:ext cx="54864" cy="1874520"/>
          </a:xfrm>
          <a:prstGeom prst="rect">
            <a:avLst/>
          </a:prstGeom>
          <a:solidFill>
            <a:srgbClr val="FF1E8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896112" y="39319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E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691640" y="39136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Promo cycle ended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691640" y="4389120"/>
            <a:ext cx="4023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D6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March discounting could have pulled April orders forward.</a:t>
            </a:r>
            <a:endParaRPr lang="en-US" sz="1200" dirty="0"/>
          </a:p>
        </p:txBody>
      </p:sp>
      <p:sp>
        <p:nvSpPr>
          <p:cNvPr id="22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0" y="3749040"/>
            <a:ext cx="5303520" cy="1874520"/>
          </a:xfrm>
          <a:prstGeom prst="rect">
            <a:avLst/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0" y="3749040"/>
            <a:ext cx="54864" cy="1874520"/>
          </a:xfrm>
          <a:prstGeom prst="rect">
            <a:avLst/>
          </a:prstGeom>
          <a:solidFill>
            <a:srgbClr val="FF1E8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473952" y="39319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E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269480" y="39136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Channel outage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269480" y="4389120"/>
            <a:ext cx="4023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D6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drop concentrated in one aggregator would point to supply, not demand.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" y="5806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1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Verify the extract before acting on the trend.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48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96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44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92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288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336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384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432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 fill="hold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 fill="hold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28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576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624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 fill="hold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672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768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 fill="hold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816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 fill="hold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864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 fill="hold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912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 fill="hold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 fill="hold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1008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 fill="hold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1056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 fill="hold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1104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 fill="hold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152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840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menu mix behind every order</a:t>
            </a:r>
            <a:endParaRPr lang="en-US" sz="2800" dirty="0"/>
          </a:p>
        </p:txBody>
      </p:sp>
      <p:sp>
        <p:nvSpPr>
          <p:cNvPr id="3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E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itle under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207008"/>
            <a:ext cx="1371600" cy="41148"/>
          </a:xfrm>
          <a:prstGeom prst="rect">
            <a:avLst/>
          </a:prstGeom>
          <a:solidFill>
            <a:srgbClr val="FF1E8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62362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 SLICER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64240" y="623620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5E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Category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600200"/>
            <a:ext cx="3474720" cy="822960"/>
          </a:xfrm>
          <a:prstGeom prst="rect">
            <a:avLst/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Chi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600200"/>
            <a:ext cx="54864" cy="822960"/>
          </a:xfrm>
          <a:prstGeom prst="rect">
            <a:avLst/>
          </a:prstGeom>
          <a:solidFill>
            <a:srgbClr val="F5E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914400" y="16002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Biryani</a:t>
            </a:r>
            <a:endParaRPr lang="en-US" sz="1600" dirty="0"/>
          </a:p>
        </p:txBody>
      </p:sp>
      <p:sp>
        <p:nvSpPr>
          <p:cNvPr id="10" name="Category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43400" y="1600200"/>
            <a:ext cx="3474720" cy="822960"/>
          </a:xfrm>
          <a:prstGeom prst="rect">
            <a:avLst/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Chi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43400" y="1600200"/>
            <a:ext cx="54864" cy="822960"/>
          </a:xfrm>
          <a:prstGeom prst="rect">
            <a:avLst/>
          </a:prstGeom>
          <a:solidFill>
            <a:srgbClr val="FF1E8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617720" y="16002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Burger</a:t>
            </a:r>
            <a:endParaRPr lang="en-US" sz="1600" dirty="0"/>
          </a:p>
        </p:txBody>
      </p:sp>
      <p:sp>
        <p:nvSpPr>
          <p:cNvPr id="13" name="Category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46720" y="1600200"/>
            <a:ext cx="3474720" cy="822960"/>
          </a:xfrm>
          <a:prstGeom prst="rect">
            <a:avLst/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Chi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46720" y="1600200"/>
            <a:ext cx="54864" cy="822960"/>
          </a:xfrm>
          <a:prstGeom prst="rect">
            <a:avLst/>
          </a:prstGeom>
          <a:solidFill>
            <a:srgbClr val="F5E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321040" y="16002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Chicken</a:t>
            </a:r>
            <a:endParaRPr lang="en-US" sz="1600" dirty="0"/>
          </a:p>
        </p:txBody>
      </p:sp>
      <p:sp>
        <p:nvSpPr>
          <p:cNvPr id="16" name="Category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651760"/>
            <a:ext cx="3474720" cy="822960"/>
          </a:xfrm>
          <a:prstGeom prst="rect">
            <a:avLst/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Chi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651760"/>
            <a:ext cx="54864" cy="822960"/>
          </a:xfrm>
          <a:prstGeom prst="rect">
            <a:avLst/>
          </a:prstGeom>
          <a:solidFill>
            <a:srgbClr val="FF1E8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914400" y="26517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Chinese</a:t>
            </a:r>
            <a:endParaRPr lang="en-US" sz="1600" dirty="0"/>
          </a:p>
        </p:txBody>
      </p:sp>
      <p:sp>
        <p:nvSpPr>
          <p:cNvPr id="19" name="Category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43400" y="2651760"/>
            <a:ext cx="3474720" cy="822960"/>
          </a:xfrm>
          <a:prstGeom prst="rect">
            <a:avLst/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Chi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43400" y="2651760"/>
            <a:ext cx="54864" cy="822960"/>
          </a:xfrm>
          <a:prstGeom prst="rect">
            <a:avLst/>
          </a:prstGeom>
          <a:solidFill>
            <a:srgbClr val="F5E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617720" y="26517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Combo</a:t>
            </a:r>
            <a:endParaRPr lang="en-US" sz="1600" dirty="0"/>
          </a:p>
        </p:txBody>
      </p:sp>
      <p:sp>
        <p:nvSpPr>
          <p:cNvPr id="22" name="Category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46720" y="2651760"/>
            <a:ext cx="3474720" cy="822960"/>
          </a:xfrm>
          <a:prstGeom prst="rect">
            <a:avLst/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Chi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46720" y="2651760"/>
            <a:ext cx="54864" cy="822960"/>
          </a:xfrm>
          <a:prstGeom prst="rect">
            <a:avLst/>
          </a:prstGeom>
          <a:solidFill>
            <a:srgbClr val="FF1E8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8321040" y="26517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Desserts</a:t>
            </a:r>
            <a:endParaRPr lang="en-US" sz="1600" dirty="0"/>
          </a:p>
        </p:txBody>
      </p:sp>
      <p:sp>
        <p:nvSpPr>
          <p:cNvPr id="25" name="Category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703320"/>
            <a:ext cx="3474720" cy="822960"/>
          </a:xfrm>
          <a:prstGeom prst="rect">
            <a:avLst/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Chi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703320"/>
            <a:ext cx="54864" cy="822960"/>
          </a:xfrm>
          <a:prstGeom prst="rect">
            <a:avLst/>
          </a:prstGeom>
          <a:solidFill>
            <a:srgbClr val="F5E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914400" y="37033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 Food</a:t>
            </a:r>
            <a:endParaRPr lang="en-US" sz="1600" dirty="0"/>
          </a:p>
        </p:txBody>
      </p:sp>
      <p:sp>
        <p:nvSpPr>
          <p:cNvPr id="28" name="Category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43400" y="3703320"/>
            <a:ext cx="3474720" cy="822960"/>
          </a:xfrm>
          <a:prstGeom prst="rect">
            <a:avLst/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Chi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43400" y="3703320"/>
            <a:ext cx="54864" cy="822960"/>
          </a:xfrm>
          <a:prstGeom prst="rect">
            <a:avLst/>
          </a:prstGeom>
          <a:solidFill>
            <a:srgbClr val="FF1E8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617720" y="37033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Healthy</a:t>
            </a:r>
            <a:endParaRPr lang="en-US" sz="1600" dirty="0"/>
          </a:p>
        </p:txBody>
      </p:sp>
      <p:sp>
        <p:nvSpPr>
          <p:cNvPr id="31" name="Category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46720" y="3703320"/>
            <a:ext cx="3474720" cy="822960"/>
          </a:xfrm>
          <a:prstGeom prst="rect">
            <a:avLst/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Chi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46720" y="3703320"/>
            <a:ext cx="54864" cy="822960"/>
          </a:xfrm>
          <a:prstGeom prst="rect">
            <a:avLst/>
          </a:prstGeom>
          <a:solidFill>
            <a:srgbClr val="F5E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8321040" y="37033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Indian</a:t>
            </a:r>
            <a:endParaRPr lang="en-US" sz="1600" dirty="0"/>
          </a:p>
        </p:txBody>
      </p:sp>
      <p:sp>
        <p:nvSpPr>
          <p:cNvPr id="34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4892040"/>
            <a:ext cx="10881360" cy="1143000"/>
          </a:xfrm>
          <a:prstGeom prst="rect">
            <a:avLst/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4892040"/>
            <a:ext cx="54864" cy="1143000"/>
          </a:xfrm>
          <a:prstGeom prst="rect">
            <a:avLst/>
          </a:prstGeom>
          <a:solidFill>
            <a:srgbClr val="FF1E8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960120" y="507492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Nine categories run across every channel and every month — the slicer lets you hold category constant and compare channels fairly, which is the single most useful move on this page.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#ppt_x-#ppt_w*1.125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#ppt_x-#ppt_w*1.125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#ppt_x-#ppt_w*1.125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#ppt_x-#ppt_w*1.125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#ppt_x-#ppt_w*1.125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#ppt_x-#ppt_w*1.125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#ppt_x-#ppt_w*1.125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#ppt_x-#ppt_w*1.125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#ppt_x-#ppt_w*1.125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#ppt_x-#ppt_w*1.125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#ppt_x-#ppt_w*1.125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#ppt_x-#ppt_w*1.125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#ppt_x-#ppt_w*1.125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#ppt_x-#ppt_w*1.125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#ppt_x-#ppt_w*1.125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#ppt_x-#ppt_w*1.125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#ppt_x-#ppt_w*1.125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#ppt_x-#ppt_w*1.125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#ppt_x-#ppt_w*1.125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#ppt_x-#ppt_w*1.125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#ppt_x-#ppt_w*1.125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#ppt_x-#ppt_w*1.125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#ppt_x-#ppt_w*1.125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#ppt_x-#ppt_w*1.125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#ppt_x-#ppt_w*1.125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#ppt_x-#ppt_w*1.125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#ppt_x-#ppt_w*1.125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#ppt_x-#ppt_w*1.125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#ppt_x-#ppt_w*1.125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#ppt_x-#ppt_w*1.125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2" presetClass="entr" presetSubtype="8" decel="50000" fill="hold" grpId="0" nodeType="with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#ppt_x-#ppt_w*1.125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#ppt_x-#ppt_w*1.125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#ppt_x-#ppt_w*1.125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#ppt_x-#ppt_w*1.125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#ppt_x-#ppt_w*1.125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#ppt_x-#ppt_w*1.125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#ppt_x-#ppt_w*1.125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#ppt_x-#ppt_w*1.125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#ppt_x-#ppt_w*1.125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#ppt_x-#ppt_w*1.125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#ppt_x-#ppt_w*1.125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#ppt_x-#ppt_w*1.125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#ppt_x-#ppt_w*1.125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#ppt_x-#ppt_w*1.125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#ppt_x-#ppt_w*1.125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#ppt_x-#ppt_w*1.125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#ppt_x-#ppt_w*1.125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#ppt_x-#ppt_w*1.125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#ppt_x-#ppt_w*1.125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#ppt_x-#ppt_w*1.125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#ppt_x-#ppt_w*1.125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#ppt_x-#ppt_w*1.125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#ppt_x-#ppt_w*1.125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#ppt_x-#ppt_w*1.125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#ppt_x-#ppt_w*1.125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#ppt_x-#ppt_w*1.125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#ppt_x-#ppt_w*1.125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#ppt_x-#ppt_w*1.125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#ppt_x-#ppt_w*1.125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#ppt_x-#ppt_w*1.125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2" presetClass="entr" presetSubtype="8" decel="5000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#ppt_x-#ppt_w*1.125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#ppt_x-#ppt_w*1.125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#ppt_x-#ppt_w*1.125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#ppt_x-#ppt_w*1.125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#ppt_x-#ppt_w*1.125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#ppt_x-#ppt_w*1.125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#ppt_x-#ppt_w*1.125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#ppt_x-#ppt_w*1.125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#ppt_x-#ppt_w*1.125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#ppt_x-#ppt_w*1.125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#ppt_x-#ppt_w*1.125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#ppt_x-#ppt_w*1.125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#ppt_x-#ppt_w*1.125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#ppt_x-#ppt_w*1.125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#ppt_x-#ppt_w*1.125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#ppt_x-#ppt_w*1.125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#ppt_x-#ppt_w*1.125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#ppt_x-#ppt_w*1.125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#ppt_x-#ppt_w*1.125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#ppt_x-#ppt_w*1.125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#ppt_x-#ppt_w*1.125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#ppt_x-#ppt_w*1.125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#ppt_x-#ppt_w*1.125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#ppt_x-#ppt_w*1.125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#ppt_x-#ppt_w*1.125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#ppt_x-#ppt_w*1.125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#ppt_x-#ppt_w*1.125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#ppt_x-#ppt_w*1.125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#ppt_x-#ppt_w*1.125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#ppt_x-#ppt_w*1.125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2" presetClass="entr" presetSubtype="8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#ppt_x-#ppt_w*1.125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#ppt_x-#ppt_w*1.125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#ppt_x-#ppt_w*1.125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#ppt_x-#ppt_w*1.125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#ppt_x-#ppt_w*1.125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#ppt_x-#ppt_w*1.125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#ppt_x-#ppt_w*1.125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#ppt_x-#ppt_w*1.125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#ppt_x-#ppt_w*1.125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#ppt_x-#ppt_w*1.125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#ppt_x-#ppt_w*1.125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#ppt_x-#ppt_w*1.125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#ppt_x-#ppt_w*1.125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#ppt_x-#ppt_w*1.125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#ppt_x-#ppt_w*1.125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#ppt_x-#ppt_w*1.125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#ppt_x-#ppt_w*1.125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#ppt_x-#ppt_w*1.125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#ppt_x-#ppt_w*1.125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#ppt_x-#ppt_w*1.125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#ppt_x-#ppt_w*1.125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#ppt_x-#ppt_w*1.125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#ppt_x-#ppt_w*1.125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#ppt_x-#ppt_w*1.125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#ppt_x-#ppt_w*1.125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#ppt_x-#ppt_w*1.125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#ppt_x-#ppt_w*1.125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#ppt_x-#ppt_w*1.125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#ppt_x-#ppt_w*1.125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#ppt_x-#ppt_w*1.125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2" presetClass="entr" presetSubtype="8" decel="5000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#ppt_x-#ppt_w*1.125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#ppt_x-#ppt_w*1.125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#ppt_x-#ppt_w*1.125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#ppt_x-#ppt_w*1.125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#ppt_x-#ppt_w*1.125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#ppt_x-#ppt_w*1.125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#ppt_x-#ppt_w*1.125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#ppt_x-#ppt_w*1.125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#ppt_x-#ppt_w*1.125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#ppt_x-#ppt_w*1.125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#ppt_x-#ppt_w*1.125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#ppt_x-#ppt_w*1.125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#ppt_x-#ppt_w*1.125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#ppt_x-#ppt_w*1.125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#ppt_x-#ppt_w*1.125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#ppt_x-#ppt_w*1.125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#ppt_x-#ppt_w*1.125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#ppt_x-#ppt_w*1.125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#ppt_x-#ppt_w*1.125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#ppt_x-#ppt_w*1.125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#ppt_x-#ppt_w*1.125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#ppt_x-#ppt_w*1.125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#ppt_x-#ppt_w*1.125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#ppt_x-#ppt_w*1.125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#ppt_x-#ppt_w*1.125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#ppt_x-#ppt_w*1.125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#ppt_x-#ppt_w*1.125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#ppt_x-#ppt_w*1.125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#ppt_x-#ppt_w*1.125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#ppt_x-#ppt_w*1.125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2" presetClass="entr" presetSubtype="8" decel="5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#ppt_x-#ppt_w*1.125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#ppt_x-#ppt_w*1.125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#ppt_x-#ppt_w*1.125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#ppt_x-#ppt_w*1.125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#ppt_x-#ppt_w*1.125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#ppt_x-#ppt_w*1.125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#ppt_x-#ppt_w*1.125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#ppt_x-#ppt_w*1.125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#ppt_x-#ppt_w*1.125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#ppt_x-#ppt_w*1.125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#ppt_x-#ppt_w*1.125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#ppt_x-#ppt_w*1.125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#ppt_x-#ppt_w*1.125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#ppt_x-#ppt_w*1.125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#ppt_x-#ppt_w*1.125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#ppt_x-#ppt_w*1.125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#ppt_x-#ppt_w*1.125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#ppt_x-#ppt_w*1.125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#ppt_x-#ppt_w*1.125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#ppt_x-#ppt_w*1.125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#ppt_x-#ppt_w*1.125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#ppt_x-#ppt_w*1.125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#ppt_x-#ppt_w*1.125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#ppt_x-#ppt_w*1.125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#ppt_x-#ppt_w*1.125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#ppt_x-#ppt_w*1.125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#ppt_x-#ppt_w*1.125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#ppt_x-#ppt_w*1.125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#ppt_x-#ppt_w*1.125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#ppt_x-#ppt_w*1.125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2" presetClass="entr" presetSubtype="8" decel="5000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#ppt_x-#ppt_w*1.125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#ppt_x-#ppt_w*1.125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#ppt_x-#ppt_w*1.125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#ppt_x-#ppt_w*1.125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#ppt_x-#ppt_w*1.125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#ppt_x-#ppt_w*1.125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#ppt_x-#ppt_w*1.125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#ppt_x-#ppt_w*1.125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#ppt_x-#ppt_w*1.125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#ppt_x-#ppt_w*1.125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#ppt_x-#ppt_w*1.125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#ppt_x-#ppt_w*1.125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#ppt_x-#ppt_w*1.125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#ppt_x-#ppt_w*1.125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#ppt_x-#ppt_w*1.125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#ppt_x-#ppt_w*1.125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#ppt_x-#ppt_w*1.125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#ppt_x-#ppt_w*1.125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#ppt_x-#ppt_w*1.125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#ppt_x-#ppt_w*1.125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#ppt_x-#ppt_w*1.125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#ppt_x-#ppt_w*1.125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#ppt_x-#ppt_w*1.125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#ppt_x-#ppt_w*1.125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#ppt_x-#ppt_w*1.125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#ppt_x-#ppt_w*1.125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#ppt_x-#ppt_w*1.125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#ppt_x-#ppt_w*1.125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#ppt_x-#ppt_w*1.125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#ppt_x-#ppt_w*1.125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2" presetClass="entr" presetSubtype="8" decel="5000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#ppt_x-#ppt_w*1.125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#ppt_x-#ppt_w*1.125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#ppt_x-#ppt_w*1.125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#ppt_x-#ppt_w*1.125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#ppt_x-#ppt_w*1.125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#ppt_x-#ppt_w*1.125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#ppt_x-#ppt_w*1.125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#ppt_x-#ppt_w*1.125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#ppt_x-#ppt_w*1.125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#ppt_x-#ppt_w*1.125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#ppt_x-#ppt_w*1.125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#ppt_x-#ppt_w*1.125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#ppt_x-#ppt_w*1.125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#ppt_x-#ppt_w*1.125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#ppt_x-#ppt_w*1.125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#ppt_x-#ppt_w*1.125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#ppt_x-#ppt_w*1.125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#ppt_x-#ppt_w*1.125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#ppt_x-#ppt_w*1.125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#ppt_x-#ppt_w*1.125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#ppt_x-#ppt_w*1.125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#ppt_x-#ppt_w*1.125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#ppt_x-#ppt_w*1.125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#ppt_x-#ppt_w*1.125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#ppt_x-#ppt_w*1.125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#ppt_x-#ppt_w*1.125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#ppt_x-#ppt_w*1.125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#ppt_x-#ppt_w*1.125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#ppt_x-#ppt_w*1.125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#ppt_x-#ppt_w*1.125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2" presetClass="entr" presetSubtype="8" decel="5000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#ppt_x-#ppt_w*1.125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#ppt_x-#ppt_w*1.125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#ppt_x-#ppt_w*1.125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#ppt_x-#ppt_w*1.125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#ppt_x-#ppt_w*1.125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#ppt_x-#ppt_w*1.125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#ppt_x-#ppt_w*1.125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#ppt_x-#ppt_w*1.125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#ppt_x-#ppt_w*1.125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#ppt_x-#ppt_w*1.125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#ppt_x-#ppt_w*1.125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#ppt_x-#ppt_w*1.125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#ppt_x-#ppt_w*1.125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#ppt_x-#ppt_w*1.125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#ppt_x-#ppt_w*1.125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#ppt_x-#ppt_w*1.125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#ppt_x-#ppt_w*1.125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#ppt_x-#ppt_w*1.125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#ppt_x-#ppt_w*1.125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#ppt_x-#ppt_w*1.125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#ppt_x-#ppt_w*1.125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#ppt_x-#ppt_w*1.125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#ppt_x-#ppt_w*1.125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#ppt_x-#ppt_w*1.125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#ppt_x-#ppt_w*1.125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#ppt_x-#ppt_w*1.125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#ppt_x-#ppt_w*1.125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#ppt_x-#ppt_w*1.125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#ppt_x-#ppt_w*1.125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#ppt_x-#ppt_w*1.125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2" presetClass="entr" presetSubtype="8" decel="5000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#ppt_x-#ppt_w*1.125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#ppt_x-#ppt_w*1.125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#ppt_x-#ppt_w*1.125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#ppt_x-#ppt_w*1.125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#ppt_x-#ppt_w*1.125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#ppt_x-#ppt_w*1.125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#ppt_x-#ppt_w*1.125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#ppt_x-#ppt_w*1.125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#ppt_x-#ppt_w*1.125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#ppt_x-#ppt_w*1.125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#ppt_x-#ppt_w*1.125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#ppt_x-#ppt_w*1.125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#ppt_x-#ppt_w*1.125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#ppt_x-#ppt_w*1.125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#ppt_x-#ppt_w*1.125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#ppt_x-#ppt_w*1.125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#ppt_x-#ppt_w*1.125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#ppt_x-#ppt_w*1.125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#ppt_x-#ppt_w*1.125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#ppt_x-#ppt_w*1.125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#ppt_x-#ppt_w*1.125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#ppt_x-#ppt_w*1.125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#ppt_x-#ppt_w*1.125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#ppt_x-#ppt_w*1.125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#ppt_x-#ppt_w*1.125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#ppt_x-#ppt_w*1.125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#ppt_x-#ppt_w*1.125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#ppt_x-#ppt_w*1.125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#ppt_x-#ppt_w*1.125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#ppt_x-#ppt_w*1.125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2" presetClass="entr" presetSubtype="8" decel="5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#ppt_x-#ppt_w*1.125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#ppt_x-#ppt_w*1.125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#ppt_x-#ppt_w*1.125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#ppt_x-#ppt_w*1.125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#ppt_x-#ppt_w*1.125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#ppt_x-#ppt_w*1.125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#ppt_x-#ppt_w*1.125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#ppt_x-#ppt_w*1.125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#ppt_x-#ppt_w*1.125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#ppt_x-#ppt_w*1.125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#ppt_x-#ppt_w*1.125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#ppt_x-#ppt_w*1.125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#ppt_x-#ppt_w*1.125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#ppt_x-#ppt_w*1.125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#ppt_x-#ppt_w*1.125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#ppt_x-#ppt_w*1.125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#ppt_x-#ppt_w*1.125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#ppt_x-#ppt_w*1.125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#ppt_x-#ppt_w*1.125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#ppt_x-#ppt_w*1.125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#ppt_x-#ppt_w*1.125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#ppt_x-#ppt_w*1.125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#ppt_x-#ppt_w*1.125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#ppt_x-#ppt_w*1.125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#ppt_x-#ppt_w*1.125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#ppt_x-#ppt_w*1.125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#ppt_x-#ppt_w*1.125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#ppt_x-#ppt_w*1.125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#ppt_x-#ppt_w*1.125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#ppt_x-#ppt_w*1.125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2" presetClass="entr" presetSubtype="8" decel="5000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#ppt_x-#ppt_w*1.125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#ppt_x-#ppt_w*1.125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#ppt_x-#ppt_w*1.125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#ppt_x-#ppt_w*1.125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#ppt_x-#ppt_w*1.125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#ppt_x-#ppt_w*1.125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#ppt_x-#ppt_w*1.125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#ppt_x-#ppt_w*1.125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#ppt_x-#ppt_w*1.125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#ppt_x-#ppt_w*1.125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#ppt_x-#ppt_w*1.125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#ppt_x-#ppt_w*1.125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#ppt_x-#ppt_w*1.125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#ppt_x-#ppt_w*1.125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#ppt_x-#ppt_w*1.125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#ppt_x-#ppt_w*1.125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#ppt_x-#ppt_w*1.125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#ppt_x-#ppt_w*1.125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#ppt_x-#ppt_w*1.125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#ppt_x-#ppt_w*1.125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#ppt_x-#ppt_w*1.125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#ppt_x-#ppt_w*1.125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#ppt_x-#ppt_w*1.125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#ppt_x-#ppt_w*1.125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#ppt_x-#ppt_w*1.125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#ppt_x-#ppt_w*1.125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#ppt_x-#ppt_w*1.125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#ppt_x-#ppt_w*1.125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#ppt_x-#ppt_w*1.125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#ppt_x-#ppt_w*1.125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2" presetClass="entr" presetSubtype="8" decel="5000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#ppt_x-#ppt_w*1.125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#ppt_x-#ppt_w*1.125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#ppt_x-#ppt_w*1.125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#ppt_x-#ppt_w*1.125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#ppt_x-#ppt_w*1.125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#ppt_x-#ppt_w*1.125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#ppt_x-#ppt_w*1.125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#ppt_x-#ppt_w*1.125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#ppt_x-#ppt_w*1.125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#ppt_x-#ppt_w*1.125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#ppt_x-#ppt_w*1.125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#ppt_x-#ppt_w*1.125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#ppt_x-#ppt_w*1.125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#ppt_x-#ppt_w*1.125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#ppt_x-#ppt_w*1.125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#ppt_x-#ppt_w*1.125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#ppt_x-#ppt_w*1.125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#ppt_x-#ppt_w*1.125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#ppt_x-#ppt_w*1.125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#ppt_x-#ppt_w*1.125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#ppt_x-#ppt_w*1.125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#ppt_x-#ppt_w*1.125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#ppt_x-#ppt_w*1.125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#ppt_x-#ppt_w*1.125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#ppt_x-#ppt_w*1.125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#ppt_x-#ppt_w*1.125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#ppt_x-#ppt_w*1.125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#ppt_x-#ppt_w*1.125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#ppt_x-#ppt_w*1.125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#ppt_x-#ppt_w*1.125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2" presetClass="entr" presetSubtype="8" decel="5000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#ppt_x-#ppt_w*1.125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#ppt_x-#ppt_w*1.125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#ppt_x-#ppt_w*1.125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#ppt_x-#ppt_w*1.125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#ppt_x-#ppt_w*1.125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#ppt_x-#ppt_w*1.125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#ppt_x-#ppt_w*1.125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#ppt_x-#ppt_w*1.125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#ppt_x-#ppt_w*1.125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#ppt_x-#ppt_w*1.125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#ppt_x-#ppt_w*1.125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#ppt_x-#ppt_w*1.125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#ppt_x-#ppt_w*1.125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#ppt_x-#ppt_w*1.125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#ppt_x-#ppt_w*1.125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#ppt_x-#ppt_w*1.125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#ppt_x-#ppt_w*1.125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#ppt_x-#ppt_w*1.125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#ppt_x-#ppt_w*1.125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#ppt_x-#ppt_w*1.125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#ppt_x-#ppt_w*1.125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#ppt_x-#ppt_w*1.125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#ppt_x-#ppt_w*1.125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#ppt_x-#ppt_w*1.125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#ppt_x-#ppt_w*1.125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#ppt_x-#ppt_w*1.125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#ppt_x-#ppt_w*1.125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#ppt_x-#ppt_w*1.125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#ppt_x-#ppt_w*1.125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#ppt_x-#ppt_w*1.125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2" presetClass="entr" presetSubtype="8" decel="5000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#ppt_x-#ppt_w*1.125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#ppt_x-#ppt_w*1.125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#ppt_x-#ppt_w*1.125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#ppt_x-#ppt_w*1.125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#ppt_x-#ppt_w*1.125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#ppt_x-#ppt_w*1.125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#ppt_x-#ppt_w*1.125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#ppt_x-#ppt_w*1.125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#ppt_x-#ppt_w*1.125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#ppt_x-#ppt_w*1.125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#ppt_x-#ppt_w*1.125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#ppt_x-#ppt_w*1.125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#ppt_x-#ppt_w*1.125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#ppt_x-#ppt_w*1.125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#ppt_x-#ppt_w*1.125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#ppt_x-#ppt_w*1.125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#ppt_x-#ppt_w*1.125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#ppt_x-#ppt_w*1.125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#ppt_x-#ppt_w*1.125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#ppt_x-#ppt_w*1.125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#ppt_x-#ppt_w*1.125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#ppt_x-#ppt_w*1.125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#ppt_x-#ppt_w*1.125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#ppt_x-#ppt_w*1.125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#ppt_x-#ppt_w*1.125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#ppt_x-#ppt_w*1.125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#ppt_x-#ppt_w*1.125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#ppt_x-#ppt_w*1.125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#ppt_x-#ppt_w*1.125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#ppt_x-#ppt_w*1.125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2" presetClass="entr" presetSubtype="8" decel="5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#ppt_x-#ppt_w*1.125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#ppt_x-#ppt_w*1.125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#ppt_x-#ppt_w*1.125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#ppt_x-#ppt_w*1.125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#ppt_x-#ppt_w*1.125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#ppt_x-#ppt_w*1.125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#ppt_x-#ppt_w*1.125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#ppt_x-#ppt_w*1.125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#ppt_x-#ppt_w*1.125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#ppt_x-#ppt_w*1.125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#ppt_x-#ppt_w*1.125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#ppt_x-#ppt_w*1.125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#ppt_x-#ppt_w*1.125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#ppt_x-#ppt_w*1.125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#ppt_x-#ppt_w*1.125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#ppt_x-#ppt_w*1.125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#ppt_x-#ppt_w*1.125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#ppt_x-#ppt_w*1.125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#ppt_x-#ppt_w*1.125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#ppt_x-#ppt_w*1.125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#ppt_x-#ppt_w*1.125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#ppt_x-#ppt_w*1.125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#ppt_x-#ppt_w*1.125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#ppt_x-#ppt_w*1.125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#ppt_x-#ppt_w*1.125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#ppt_x-#ppt_w*1.125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#ppt_x-#ppt_w*1.125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#ppt_x-#ppt_w*1.125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#ppt_x-#ppt_w*1.125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#ppt_x-#ppt_w*1.125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2" presetClass="entr" presetSubtype="8" decel="5000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#ppt_x-#ppt_w*1.125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#ppt_x-#ppt_w*1.125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#ppt_x-#ppt_w*1.125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#ppt_x-#ppt_w*1.125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#ppt_x-#ppt_w*1.125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#ppt_x-#ppt_w*1.125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#ppt_x-#ppt_w*1.125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#ppt_x-#ppt_w*1.125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#ppt_x-#ppt_w*1.125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#ppt_x-#ppt_w*1.125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#ppt_x-#ppt_w*1.125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#ppt_x-#ppt_w*1.125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#ppt_x-#ppt_w*1.125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#ppt_x-#ppt_w*1.125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#ppt_x-#ppt_w*1.125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#ppt_x-#ppt_w*1.125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#ppt_x-#ppt_w*1.125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#ppt_x-#ppt_w*1.125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#ppt_x-#ppt_w*1.125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#ppt_x-#ppt_w*1.125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#ppt_x-#ppt_w*1.125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#ppt_x-#ppt_w*1.125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#ppt_x-#ppt_w*1.125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#ppt_x-#ppt_w*1.125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#ppt_x-#ppt_w*1.125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#ppt_x-#ppt_w*1.125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#ppt_x-#ppt_w*1.125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#ppt_x-#ppt_w*1.125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#ppt_x-#ppt_w*1.125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#ppt_x-#ppt_w*1.125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2" presetClass="entr" presetSubtype="8" decel="5000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#ppt_x-#ppt_w*1.125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#ppt_x-#ppt_w*1.125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#ppt_x-#ppt_w*1.125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#ppt_x-#ppt_w*1.125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#ppt_x-#ppt_w*1.125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#ppt_x-#ppt_w*1.125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#ppt_x-#ppt_w*1.125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#ppt_x-#ppt_w*1.125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#ppt_x-#ppt_w*1.125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#ppt_x-#ppt_w*1.125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#ppt_x-#ppt_w*1.125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#ppt_x-#ppt_w*1.125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#ppt_x-#ppt_w*1.125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#ppt_x-#ppt_w*1.125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#ppt_x-#ppt_w*1.125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#ppt_x-#ppt_w*1.125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#ppt_x-#ppt_w*1.125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#ppt_x-#ppt_w*1.125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#ppt_x-#ppt_w*1.125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#ppt_x-#ppt_w*1.125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#ppt_x-#ppt_w*1.125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#ppt_x-#ppt_w*1.125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#ppt_x-#ppt_w*1.125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#ppt_x-#ppt_w*1.125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#ppt_x-#ppt_w*1.125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#ppt_x-#ppt_w*1.125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#ppt_x-#ppt_w*1.125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#ppt_x-#ppt_w*1.125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#ppt_x-#ppt_w*1.125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#ppt_x-#ppt_w*1.125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2" presetClass="entr" presetSubtype="8" decel="5000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#ppt_x-#ppt_w*1.125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#ppt_x-#ppt_w*1.125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#ppt_x-#ppt_w*1.125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#ppt_x-#ppt_w*1.125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#ppt_x-#ppt_w*1.125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#ppt_x-#ppt_w*1.125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#ppt_x-#ppt_w*1.125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#ppt_x-#ppt_w*1.125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#ppt_x-#ppt_w*1.125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#ppt_x-#ppt_w*1.125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#ppt_x-#ppt_w*1.125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#ppt_x-#ppt_w*1.125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#ppt_x-#ppt_w*1.125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#ppt_x-#ppt_w*1.125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#ppt_x-#ppt_w*1.125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#ppt_x-#ppt_w*1.125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#ppt_x-#ppt_w*1.125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#ppt_x-#ppt_w*1.125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#ppt_x-#ppt_w*1.125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#ppt_x-#ppt_w*1.125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#ppt_x-#ppt_w*1.125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#ppt_x-#ppt_w*1.125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#ppt_x-#ppt_w*1.125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#ppt_x-#ppt_w*1.125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#ppt_x-#ppt_w*1.125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#ppt_x-#ppt_w*1.125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#ppt_x-#ppt_w*1.125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#ppt_x-#ppt_w*1.125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#ppt_x-#ppt_w*1.125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#ppt_x-#ppt_w*1.125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2" presetClass="entr" presetSubtype="8" decel="50000" fill="hold" grpId="0" nodeType="with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#ppt_x-#ppt_w*1.125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#ppt_x-#ppt_w*1.125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#ppt_x-#ppt_w*1.125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#ppt_x-#ppt_w*1.125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#ppt_x-#ppt_w*1.125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#ppt_x-#ppt_w*1.125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#ppt_x-#ppt_w*1.125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#ppt_x-#ppt_w*1.125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#ppt_x-#ppt_w*1.125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#ppt_x-#ppt_w*1.125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#ppt_x-#ppt_w*1.125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#ppt_x-#ppt_w*1.125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#ppt_x-#ppt_w*1.125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#ppt_x-#ppt_w*1.125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#ppt_x-#ppt_w*1.125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#ppt_x-#ppt_w*1.125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#ppt_x-#ppt_w*1.125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#ppt_x-#ppt_w*1.125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#ppt_x-#ppt_w*1.125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#ppt_x-#ppt_w*1.125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#ppt_x-#ppt_w*1.125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#ppt_x-#ppt_w*1.125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#ppt_x-#ppt_w*1.125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#ppt_x-#ppt_w*1.125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#ppt_x-#ppt_w*1.125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#ppt_x-#ppt_w*1.125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#ppt_x-#ppt_w*1.125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#ppt_x-#ppt_w*1.125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#ppt_x-#ppt_w*1.125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#ppt_x-#ppt_w*1.125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2" presetClass="entr" presetSubtype="8" decel="5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#ppt_x-#ppt_w*1.125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#ppt_x-#ppt_w*1.125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#ppt_x-#ppt_w*1.125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#ppt_x-#ppt_w*1.125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#ppt_x-#ppt_w*1.125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#ppt_x-#ppt_w*1.125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#ppt_x-#ppt_w*1.125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#ppt_x-#ppt_w*1.125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#ppt_x-#ppt_w*1.125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#ppt_x-#ppt_w*1.125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#ppt_x-#ppt_w*1.125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#ppt_x-#ppt_w*1.125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#ppt_x-#ppt_w*1.125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#ppt_x-#ppt_w*1.125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#ppt_x-#ppt_w*1.125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#ppt_x-#ppt_w*1.125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#ppt_x-#ppt_w*1.125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#ppt_x-#ppt_w*1.125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#ppt_x-#ppt_w*1.125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#ppt_x-#ppt_w*1.125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#ppt_x-#ppt_w*1.125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#ppt_x-#ppt_w*1.125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#ppt_x-#ppt_w*1.125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#ppt_x-#ppt_w*1.125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#ppt_x-#ppt_w*1.125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#ppt_x-#ppt_w*1.125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#ppt_x-#ppt_w*1.125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#ppt_x-#ppt_w*1.125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#ppt_x-#ppt_w*1.125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#ppt_x-#ppt_w*1.125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2" presetClass="entr" presetSubtype="8" decel="5000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#ppt_x-#ppt_w*1.125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#ppt_x-#ppt_w*1.125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#ppt_x-#ppt_w*1.125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#ppt_x-#ppt_w*1.125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#ppt_x-#ppt_w*1.125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#ppt_x-#ppt_w*1.125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#ppt_x-#ppt_w*1.125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#ppt_x-#ppt_w*1.125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#ppt_x-#ppt_w*1.125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#ppt_x-#ppt_w*1.125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#ppt_x-#ppt_w*1.125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#ppt_x-#ppt_w*1.125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#ppt_x-#ppt_w*1.125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#ppt_x-#ppt_w*1.125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#ppt_x-#ppt_w*1.125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#ppt_x-#ppt_w*1.125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#ppt_x-#ppt_w*1.125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#ppt_x-#ppt_w*1.125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#ppt_x-#ppt_w*1.125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#ppt_x-#ppt_w*1.125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#ppt_x-#ppt_w*1.125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#ppt_x-#ppt_w*1.125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#ppt_x-#ppt_w*1.125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#ppt_x-#ppt_w*1.125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#ppt_x-#ppt_w*1.125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#ppt_x-#ppt_w*1.125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#ppt_x-#ppt_w*1.125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#ppt_x-#ppt_w*1.125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#ppt_x-#ppt_w*1.125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#ppt_x-#ppt_w*1.125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12" presetClass="entr" presetSubtype="8" decel="5000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#ppt_x-#ppt_w*1.125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#ppt_x-#ppt_w*1.125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#ppt_x-#ppt_w*1.125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#ppt_x-#ppt_w*1.125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#ppt_x-#ppt_w*1.125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#ppt_x-#ppt_w*1.125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#ppt_x-#ppt_w*1.125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#ppt_x-#ppt_w*1.125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#ppt_x-#ppt_w*1.125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#ppt_x-#ppt_w*1.125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#ppt_x-#ppt_w*1.125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#ppt_x-#ppt_w*1.125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#ppt_x-#ppt_w*1.125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#ppt_x-#ppt_w*1.125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#ppt_x-#ppt_w*1.125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#ppt_x-#ppt_w*1.125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#ppt_x-#ppt_w*1.125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#ppt_x-#ppt_w*1.125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#ppt_x-#ppt_w*1.125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#ppt_x-#ppt_w*1.125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#ppt_x-#ppt_w*1.125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#ppt_x-#ppt_w*1.125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#ppt_x-#ppt_w*1.125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#ppt_x-#ppt_w*1.125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#ppt_x-#ppt_w*1.125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#ppt_x-#ppt_w*1.125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#ppt_x-#ppt_w*1.125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#ppt_x-#ppt_w*1.125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#ppt_x-#ppt_w*1.125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#ppt_x-#ppt_w*1.125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12" presetClass="entr" presetSubtype="8" decel="5000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#ppt_x-#ppt_w*1.125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#ppt_x-#ppt_w*1.125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#ppt_x-#ppt_w*1.125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#ppt_x-#ppt_w*1.125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#ppt_x-#ppt_w*1.125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#ppt_x-#ppt_w*1.125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#ppt_x-#ppt_w*1.125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#ppt_x-#ppt_w*1.125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#ppt_x-#ppt_w*1.125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#ppt_x-#ppt_w*1.125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#ppt_x-#ppt_w*1.125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#ppt_x-#ppt_w*1.125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#ppt_x-#ppt_w*1.125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#ppt_x-#ppt_w*1.125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#ppt_x-#ppt_w*1.125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#ppt_x-#ppt_w*1.125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#ppt_x-#ppt_w*1.125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#ppt_x-#ppt_w*1.125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#ppt_x-#ppt_w*1.125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#ppt_x-#ppt_w*1.125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#ppt_x-#ppt_w*1.125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#ppt_x-#ppt_w*1.125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#ppt_x-#ppt_w*1.125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#ppt_x-#ppt_w*1.125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#ppt_x-#ppt_w*1.125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#ppt_x-#ppt_w*1.125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#ppt_x-#ppt_w*1.125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#ppt_x-#ppt_w*1.125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#ppt_x-#ppt_w*1.125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#ppt_x-#ppt_w*1.125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12" presetClass="entr" presetSubtype="8" decel="5000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#ppt_x-#ppt_w*1.125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#ppt_x-#ppt_w*1.125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#ppt_x-#ppt_w*1.125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#ppt_x-#ppt_w*1.125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#ppt_x-#ppt_w*1.125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#ppt_x-#ppt_w*1.125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#ppt_x-#ppt_w*1.125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#ppt_x-#ppt_w*1.125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#ppt_x-#ppt_w*1.125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#ppt_x-#ppt_w*1.125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#ppt_x-#ppt_w*1.125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#ppt_x-#ppt_w*1.125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#ppt_x-#ppt_w*1.125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#ppt_x-#ppt_w*1.125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#ppt_x-#ppt_w*1.125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#ppt_x-#ppt_w*1.125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#ppt_x-#ppt_w*1.125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#ppt_x-#ppt_w*1.125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#ppt_x-#ppt_w*1.125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#ppt_x-#ppt_w*1.125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#ppt_x-#ppt_w*1.125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#ppt_x-#ppt_w*1.125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#ppt_x-#ppt_w*1.125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#ppt_x-#ppt_w*1.125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#ppt_x-#ppt_w*1.125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#ppt_x-#ppt_w*1.125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#ppt_x-#ppt_w*1.125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#ppt_x-#ppt_w*1.125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#ppt_x-#ppt_w*1.125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#ppt_x-#ppt_w*1.125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12" presetClass="entr" presetSubtype="8" decel="5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#ppt_x-#ppt_w*1.125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#ppt_x-#ppt_w*1.125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#ppt_x-#ppt_w*1.125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#ppt_x-#ppt_w*1.125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#ppt_x-#ppt_w*1.125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#ppt_x-#ppt_w*1.125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#ppt_x-#ppt_w*1.125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#ppt_x-#ppt_w*1.125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#ppt_x-#ppt_w*1.125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#ppt_x-#ppt_w*1.125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#ppt_x-#ppt_w*1.125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#ppt_x-#ppt_w*1.125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#ppt_x-#ppt_w*1.125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#ppt_x-#ppt_w*1.125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#ppt_x-#ppt_w*1.125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#ppt_x-#ppt_w*1.125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#ppt_x-#ppt_w*1.125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#ppt_x-#ppt_w*1.125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#ppt_x-#ppt_w*1.125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#ppt_x-#ppt_w*1.125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#ppt_x-#ppt_w*1.125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#ppt_x-#ppt_w*1.125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#ppt_x-#ppt_w*1.125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#ppt_x-#ppt_w*1.125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#ppt_x-#ppt_w*1.125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#ppt_x-#ppt_w*1.125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#ppt_x-#ppt_w*1.125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#ppt_x-#ppt_w*1.125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#ppt_x-#ppt_w*1.125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#ppt_x-#ppt_w*1.125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12" presetClass="entr" presetSubtype="8" decel="5000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2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#ppt_x-#ppt_w*1.125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#ppt_x-#ppt_w*1.125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#ppt_x-#ppt_w*1.125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#ppt_x-#ppt_w*1.125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#ppt_x-#ppt_w*1.125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#ppt_x-#ppt_w*1.125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#ppt_x-#ppt_w*1.125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#ppt_x-#ppt_w*1.125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#ppt_x-#ppt_w*1.125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#ppt_x-#ppt_w*1.125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#ppt_x-#ppt_w*1.125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#ppt_x-#ppt_w*1.125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#ppt_x-#ppt_w*1.125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#ppt_x-#ppt_w*1.125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#ppt_x-#ppt_w*1.125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#ppt_x-#ppt_w*1.125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#ppt_x-#ppt_w*1.125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#ppt_x-#ppt_w*1.125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#ppt_x-#ppt_w*1.125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#ppt_x-#ppt_w*1.125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#ppt_x-#ppt_w*1.125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#ppt_x-#ppt_w*1.125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#ppt_x-#ppt_w*1.125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#ppt_x-#ppt_w*1.125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#ppt_x-#ppt_w*1.125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#ppt_x-#ppt_w*1.125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#ppt_x-#ppt_w*1.125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#ppt_x-#ppt_w*1.125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#ppt_x-#ppt_w*1.125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#ppt_x-#ppt_w*1.125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12" presetClass="entr" presetSubtype="8" decel="5000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#ppt_x-#ppt_w*1.125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#ppt_x-#ppt_w*1.125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#ppt_x-#ppt_w*1.125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#ppt_x-#ppt_w*1.125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#ppt_x-#ppt_w*1.125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#ppt_x-#ppt_w*1.125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#ppt_x-#ppt_w*1.125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#ppt_x-#ppt_w*1.125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#ppt_x-#ppt_w*1.125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#ppt_x-#ppt_w*1.125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#ppt_x-#ppt_w*1.125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#ppt_x-#ppt_w*1.125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#ppt_x-#ppt_w*1.125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#ppt_x-#ppt_w*1.125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#ppt_x-#ppt_w*1.125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#ppt_x-#ppt_w*1.125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#ppt_x-#ppt_w*1.125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#ppt_x-#ppt_w*1.125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#ppt_x-#ppt_w*1.125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#ppt_x-#ppt_w*1.125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#ppt_x-#ppt_w*1.125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#ppt_x-#ppt_w*1.125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#ppt_x-#ppt_w*1.125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#ppt_x-#ppt_w*1.125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#ppt_x-#ppt_w*1.125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#ppt_x-#ppt_w*1.125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#ppt_x-#ppt_w*1.125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#ppt_x-#ppt_w*1.125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#ppt_x-#ppt_w*1.125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#ppt_x-#ppt_w*1.125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12" presetClass="entr" presetSubtype="8" decel="5000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#ppt_x-#ppt_w*1.125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#ppt_x-#ppt_w*1.125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#ppt_x-#ppt_w*1.125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#ppt_x-#ppt_w*1.125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#ppt_x-#ppt_w*1.125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#ppt_x-#ppt_w*1.125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#ppt_x-#ppt_w*1.125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#ppt_x-#ppt_w*1.125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#ppt_x-#ppt_w*1.125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#ppt_x-#ppt_w*1.125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#ppt_x-#ppt_w*1.125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#ppt_x-#ppt_w*1.125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#ppt_x-#ppt_w*1.125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#ppt_x-#ppt_w*1.125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#ppt_x-#ppt_w*1.125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#ppt_x-#ppt_w*1.125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#ppt_x-#ppt_w*1.125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#ppt_x-#ppt_w*1.125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#ppt_x-#ppt_w*1.125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#ppt_x-#ppt_w*1.125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#ppt_x-#ppt_w*1.125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#ppt_x-#ppt_w*1.125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#ppt_x-#ppt_w*1.125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#ppt_x-#ppt_w*1.125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#ppt_x-#ppt_w*1.125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#ppt_x-#ppt_w*1.125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#ppt_x-#ppt_w*1.125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#ppt_x-#ppt_w*1.125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#ppt_x-#ppt_w*1.125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#ppt_x-#ppt_w*1.125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12" presetClass="entr" presetSubtype="8" decel="50000" fill="hold" grpId="0" nodeType="withEffect">
                                  <p:stCondLst>
                                    <p:cond delay="116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#ppt_x-#ppt_w*1.125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#ppt_x-#ppt_w*1.125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#ppt_x-#ppt_w*1.125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#ppt_x-#ppt_w*1.125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#ppt_x-#ppt_w*1.125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#ppt_x-#ppt_w*1.125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#ppt_x-#ppt_w*1.125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#ppt_x-#ppt_w*1.125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#ppt_x-#ppt_w*1.125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#ppt_x-#ppt_w*1.125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#ppt_x-#ppt_w*1.125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#ppt_x-#ppt_w*1.125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#ppt_x-#ppt_w*1.125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#ppt_x-#ppt_w*1.125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#ppt_x-#ppt_w*1.125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#ppt_x-#ppt_w*1.125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#ppt_x-#ppt_w*1.125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#ppt_x-#ppt_w*1.125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#ppt_x-#ppt_w*1.125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#ppt_x-#ppt_w*1.125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#ppt_x-#ppt_w*1.125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#ppt_x-#ppt_w*1.125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#ppt_x-#ppt_w*1.125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#ppt_x-#ppt_w*1.125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#ppt_x-#ppt_w*1.125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#ppt_x-#ppt_w*1.125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#ppt_x-#ppt_w*1.125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#ppt_x-#ppt_w*1.125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#ppt_x-#ppt_w*1.125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#ppt_x-#ppt_w*1.125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12" presetClass="entr" presetSubtype="8" decel="5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#ppt_x-#ppt_w*1.125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#ppt_x-#ppt_w*1.125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#ppt_x-#ppt_w*1.125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#ppt_x-#ppt_w*1.125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#ppt_x-#ppt_w*1.125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#ppt_x-#ppt_w*1.125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#ppt_x-#ppt_w*1.125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#ppt_x-#ppt_w*1.125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#ppt_x-#ppt_w*1.125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#ppt_x-#ppt_w*1.125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#ppt_x-#ppt_w*1.125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#ppt_x-#ppt_w*1.125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#ppt_x-#ppt_w*1.125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#ppt_x-#ppt_w*1.125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#ppt_x-#ppt_w*1.125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#ppt_x-#ppt_w*1.125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#ppt_x-#ppt_w*1.125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#ppt_x-#ppt_w*1.125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#ppt_x-#ppt_w*1.125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#ppt_x-#ppt_w*1.125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#ppt_x-#ppt_w*1.125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#ppt_x-#ppt_w*1.125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#ppt_x-#ppt_w*1.125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#ppt_x-#ppt_w*1.125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#ppt_x-#ppt_w*1.125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#ppt_x-#ppt_w*1.125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#ppt_x-#ppt_w*1.125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#ppt_x-#ppt_w*1.125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#ppt_x-#ppt_w*1.125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#ppt_x-#ppt_w*1.125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12" presetClass="entr" presetSubtype="8" decel="50000" fill="hold" grpId="0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2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#ppt_x-#ppt_w*1.125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#ppt_x-#ppt_w*1.125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#ppt_x-#ppt_w*1.125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#ppt_x-#ppt_w*1.125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#ppt_x-#ppt_w*1.125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#ppt_x-#ppt_w*1.125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#ppt_x-#ppt_w*1.125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#ppt_x-#ppt_w*1.125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#ppt_x-#ppt_w*1.125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#ppt_x-#ppt_w*1.125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#ppt_x-#ppt_w*1.125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#ppt_x-#ppt_w*1.125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#ppt_x-#ppt_w*1.125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#ppt_x-#ppt_w*1.125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#ppt_x-#ppt_w*1.125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#ppt_x-#ppt_w*1.125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#ppt_x-#ppt_w*1.125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#ppt_x-#ppt_w*1.125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#ppt_x-#ppt_w*1.125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#ppt_x-#ppt_w*1.125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#ppt_x-#ppt_w*1.125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#ppt_x-#ppt_w*1.125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#ppt_x-#ppt_w*1.125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#ppt_x-#ppt_w*1.125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#ppt_x-#ppt_w*1.125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#ppt_x-#ppt_w*1.125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#ppt_x-#ppt_w*1.125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#ppt_x-#ppt_w*1.125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#ppt_x-#ppt_w*1.125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#ppt_x-#ppt_w*1.125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12" presetClass="entr" presetSubtype="8" decel="50000" fill="hold" grpId="0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6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#ppt_x-#ppt_w*1.125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#ppt_x-#ppt_w*1.125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#ppt_x-#ppt_w*1.125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#ppt_x-#ppt_w*1.125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#ppt_x-#ppt_w*1.125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#ppt_x-#ppt_w*1.125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#ppt_x-#ppt_w*1.125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#ppt_x-#ppt_w*1.125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#ppt_x-#ppt_w*1.125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#ppt_x-#ppt_w*1.125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#ppt_x-#ppt_w*1.125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#ppt_x-#ppt_w*1.125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#ppt_x-#ppt_w*1.125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#ppt_x-#ppt_w*1.125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#ppt_x-#ppt_w*1.125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#ppt_x-#ppt_w*1.125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#ppt_x-#ppt_w*1.125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#ppt_x-#ppt_w*1.125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#ppt_x-#ppt_w*1.125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#ppt_x-#ppt_w*1.125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#ppt_x-#ppt_w*1.125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#ppt_x-#ppt_w*1.125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#ppt_x-#ppt_w*1.125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#ppt_x-#ppt_w*1.125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#ppt_x-#ppt_w*1.125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#ppt_x-#ppt_w*1.125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#ppt_x-#ppt_w*1.125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#ppt_x-#ppt_w*1.125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#ppt_x-#ppt_w*1.125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#ppt_x-#ppt_w*1.125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12" presetClass="entr" presetSubtype="8" decel="50000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#ppt_x-#ppt_w*1.125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#ppt_x-#ppt_w*1.125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#ppt_x-#ppt_w*1.125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#ppt_x-#ppt_w*1.125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#ppt_x-#ppt_w*1.125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#ppt_x-#ppt_w*1.125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#ppt_x-#ppt_w*1.125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#ppt_x-#ppt_w*1.125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#ppt_x-#ppt_w*1.125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#ppt_x-#ppt_w*1.125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#ppt_x-#ppt_w*1.125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#ppt_x-#ppt_w*1.125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#ppt_x-#ppt_w*1.125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#ppt_x-#ppt_w*1.125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#ppt_x-#ppt_w*1.125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#ppt_x-#ppt_w*1.125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#ppt_x-#ppt_w*1.125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#ppt_x-#ppt_w*1.125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#ppt_x-#ppt_w*1.125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#ppt_x-#ppt_w*1.125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#ppt_x-#ppt_w*1.125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#ppt_x-#ppt_w*1.125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#ppt_x-#ppt_w*1.125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#ppt_x-#ppt_w*1.125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#ppt_x-#ppt_w*1.125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#ppt_x-#ppt_w*1.125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#ppt_x-#ppt_w*1.125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#ppt_x-#ppt_w*1.125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#ppt_x-#ppt_w*1.125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#ppt_x-#ppt_w*1.125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12" presetClass="entr" presetSubtype="8" decel="5000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#ppt_x-#ppt_w*1.125)+0.14416*(#ppt_x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#ppt_x-#ppt_w*1.125)+0.27304*(#ppt_x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#ppt_x-#ppt_w*1.125)+0.38576*(#ppt_x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#ppt_x-#ppt_w*1.125)+0.48262*(#ppt_x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#ppt_x-#ppt_w*1.125)+0.56479*(#ppt_x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#ppt_x-#ppt_w*1.125)+0.63397*(#ppt_x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#ppt_x-#ppt_w*1.125)+0.69198*(#ppt_x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#ppt_x-#ppt_w*1.125)+0.74056*(#ppt_x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#ppt_x-#ppt_w*1.125)+0.78128*(#ppt_x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#ppt_x-#ppt_w*1.125)+0.81547*(#ppt_x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#ppt_x-#ppt_w*1.125)+0.84426*(#ppt_x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#ppt_x-#ppt_w*1.125)+0.86854*(#ppt_x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#ppt_x-#ppt_w*1.125)+0.88909*(#ppt_x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#ppt_x-#ppt_w*1.125)+0.90650*(#ppt_x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#ppt_x-#ppt_w*1.125)+0.92128*(#ppt_x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#ppt_x-#ppt_w*1.125)+0.93384*(#ppt_x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#ppt_x-#ppt_w*1.125)+0.94453*(#ppt_x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#ppt_x-#ppt_w*1.125)+0.95363*(#ppt_x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#ppt_x-#ppt_w*1.125)+0.96137*(#ppt_x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#ppt_x-#ppt_w*1.125)+0.96795*(#ppt_x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#ppt_x-#ppt_w*1.125)+0.97356*(#ppt_x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#ppt_x-#ppt_w*1.125)+0.97848*(#ppt_x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#ppt_x-#ppt_w*1.125)+0.98283*(#ppt_x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#ppt_x-#ppt_w*1.125)+0.98663*(#ppt_x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#ppt_x-#ppt_w*1.125)+0.98993*(#ppt_x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#ppt_x-#ppt_w*1.125)+0.99274*(#ppt_x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#ppt_x-#ppt_w*1.125)+0.99510*(#ppt_x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#ppt_x-#ppt_w*1.125)+0.99701*(#ppt_x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#ppt_x-#ppt_w*1.125)+0.99848*(#ppt_x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#ppt_x-#ppt_w*1.125)+0.99951*(#ppt_x)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840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 these before the report is trusted</a:t>
            </a:r>
            <a:endParaRPr lang="en-US" sz="2800" dirty="0"/>
          </a:p>
        </p:txBody>
      </p:sp>
      <p:sp>
        <p:nvSpPr>
          <p:cNvPr id="3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E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itle under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207008"/>
            <a:ext cx="1371600" cy="41148"/>
          </a:xfrm>
          <a:prstGeom prst="rect">
            <a:avLst/>
          </a:prstGeom>
          <a:solidFill>
            <a:srgbClr val="FF1E8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62362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QUALITY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64240" y="623620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5E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881360" cy="91440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A0A0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ISSUE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A0A0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WHY IT MATTERS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A0A0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FIX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6E6E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 channel is literally named "Channel"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6E6E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13 units sit in an unlabelled bucket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6E6E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Trace to source and rename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6E6E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Donut measures ship-postal-code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6E6E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Summing postal codes is not a business metric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6E6E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Swap the measure to amount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6E6E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Only four months of data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6E6E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"Annual" in the title overstates coverage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6E6E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Retitle or extend the date range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6E6E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Dual-axis line is unreadable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6E6E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Category count flatlines against amount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6E6E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Split into two small charts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5623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1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 fix above is a report-layer change — none of them require new source data.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 fill="hold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4" grpId="0" animBg="1"/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8404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Three moves for the next quarter</a:t>
            </a:r>
            <a:endParaRPr lang="en-US" sz="2800" dirty="0"/>
          </a:p>
        </p:txBody>
      </p:sp>
      <p:sp>
        <p:nvSpPr>
          <p:cNvPr id="3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E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itle under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207008"/>
            <a:ext cx="1371600" cy="41148"/>
          </a:xfrm>
          <a:prstGeom prst="rect">
            <a:avLst/>
          </a:prstGeom>
          <a:solidFill>
            <a:srgbClr val="FF1E8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62362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RECOMMENDATIONS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64240" y="623620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5E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645920"/>
            <a:ext cx="3474720" cy="3200400"/>
          </a:xfrm>
          <a:prstGeom prst="rect">
            <a:avLst/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645920"/>
            <a:ext cx="54864" cy="3200400"/>
          </a:xfrm>
          <a:prstGeom prst="rect">
            <a:avLst/>
          </a:prstGeom>
          <a:solidFill>
            <a:srgbClr val="FF1E8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914400" y="18745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100" dirty="0">
                <a:solidFill>
                  <a:srgbClr val="F5E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DEFEND</a:t>
            </a:r>
            <a:endParaRPr lang="en-US" sz="2400" dirty="0"/>
          </a:p>
        </p:txBody>
      </p:sp>
      <p:sp>
        <p:nvSpPr>
          <p:cNvPr id="10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2468880"/>
            <a:ext cx="914400" cy="36576"/>
          </a:xfrm>
          <a:prstGeom prst="rect">
            <a:avLst/>
          </a:prstGeom>
          <a:solidFill>
            <a:srgbClr val="F5E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914400" y="2633472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Protect the 54% of volume on Swiggy and Zomato — service levels and ratings first.</a:t>
            </a:r>
            <a:endParaRPr lang="en-US" sz="1400" dirty="0"/>
          </a:p>
        </p:txBody>
      </p:sp>
      <p:sp>
        <p:nvSpPr>
          <p:cNvPr id="12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43400" y="1645920"/>
            <a:ext cx="3474720" cy="3200400"/>
          </a:xfrm>
          <a:prstGeom prst="rect">
            <a:avLst/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43400" y="1645920"/>
            <a:ext cx="54864" cy="3200400"/>
          </a:xfrm>
          <a:prstGeom prst="rect">
            <a:avLst/>
          </a:prstGeom>
          <a:solidFill>
            <a:srgbClr val="FF1E8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617720" y="18745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100" dirty="0">
                <a:solidFill>
                  <a:srgbClr val="FF1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DIVERSIFY</a:t>
            </a:r>
            <a:endParaRPr lang="en-US" sz="2400" dirty="0"/>
          </a:p>
        </p:txBody>
      </p:sp>
      <p:sp>
        <p:nvSpPr>
          <p:cNvPr id="15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17720" y="2468880"/>
            <a:ext cx="914400" cy="36576"/>
          </a:xfrm>
          <a:prstGeom prst="rect">
            <a:avLst/>
          </a:prstGeom>
          <a:solidFill>
            <a:srgbClr val="FF1E8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617720" y="2633472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the challenger tier and direct ordering toward a third of total units.</a:t>
            </a:r>
            <a:endParaRPr lang="en-US" sz="1400" dirty="0"/>
          </a:p>
        </p:txBody>
      </p:sp>
      <p:sp>
        <p:nvSpPr>
          <p:cNvPr id="17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46720" y="1645920"/>
            <a:ext cx="3474720" cy="3200400"/>
          </a:xfrm>
          <a:prstGeom prst="rect">
            <a:avLst/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46720" y="1645920"/>
            <a:ext cx="54864" cy="3200400"/>
          </a:xfrm>
          <a:prstGeom prst="rect">
            <a:avLst/>
          </a:prstGeom>
          <a:solidFill>
            <a:srgbClr val="FF1E8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8321040" y="18745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1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DEEPEN</a:t>
            </a:r>
            <a:endParaRPr lang="en-US" sz="2400" dirty="0"/>
          </a:p>
        </p:txBody>
      </p:sp>
      <p:sp>
        <p:nvSpPr>
          <p:cNvPr id="20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21040" y="2468880"/>
            <a:ext cx="914400" cy="36576"/>
          </a:xfrm>
          <a:prstGeom prst="rect">
            <a:avLst/>
          </a:prstGeom>
          <a:solidFill>
            <a:srgbClr val="00E5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8321040" y="2633472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Convert Maharashtra and Kerala strength into repeat frequency, not just reach.</a:t>
            </a:r>
            <a:endParaRPr lang="en-US" sz="1400" dirty="0"/>
          </a:p>
        </p:txBody>
      </p:sp>
      <p:sp>
        <p:nvSpPr>
          <p:cNvPr id="22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5029200"/>
            <a:ext cx="10881360" cy="1005840"/>
          </a:xfrm>
          <a:prstGeom prst="rect">
            <a:avLst/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5029200"/>
            <a:ext cx="54864" cy="1005840"/>
          </a:xfrm>
          <a:prstGeom prst="rect">
            <a:avLst/>
          </a:prstGeom>
          <a:solidFill>
            <a:srgbClr val="FF1E8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960120" y="516636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E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Measure all three against the same baseline: 61,654 in amount and 206 units across four months.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1+#ppt_h/2)+0.14416*(#ppt_y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1+#ppt_h/2)+0.27304*(#ppt_y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1+#ppt_h/2)+0.38576*(#ppt_y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1+#ppt_h/2)+0.48262*(#ppt_y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1+#ppt_h/2)+0.56479*(#ppt_y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1+#ppt_h/2)+0.63397*(#ppt_y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1+#ppt_h/2)+0.69198*(#ppt_y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1+#ppt_h/2)+0.74056*(#ppt_y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1+#ppt_h/2)+0.78128*(#ppt_y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1+#ppt_h/2)+0.81547*(#ppt_y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1+#ppt_h/2)+0.84426*(#ppt_y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1+#ppt_h/2)+0.86854*(#ppt_y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1+#ppt_h/2)+0.88909*(#ppt_y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1+#ppt_h/2)+0.90650*(#ppt_y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1+#ppt_h/2)+0.92128*(#ppt_y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1+#ppt_h/2)+0.93384*(#ppt_y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1+#ppt_h/2)+0.94453*(#ppt_y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1+#ppt_h/2)+0.95363*(#ppt_y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1+#ppt_h/2)+0.96137*(#ppt_y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1+#ppt_h/2)+0.96795*(#ppt_y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1+#ppt_h/2)+0.97356*(#ppt_y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1+#ppt_h/2)+0.97848*(#ppt_y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1+#ppt_h/2)+0.98283*(#ppt_y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1+#ppt_h/2)+0.98663*(#ppt_y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1+#ppt_h/2)+0.98993*(#ppt_y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1+#ppt_h/2)+0.99274*(#ppt_y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1+#ppt_h/2)+0.99510*(#ppt_y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1+#ppt_h/2)+0.99701*(#ppt_y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1+#ppt_h/2)+0.99848*(#ppt_y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1+#ppt_h/2)+0.99951*(#ppt_y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" presetClass="entr" presetSubtype="4" decel="50000" fill="hold" grpId="0" nodeType="with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1+#ppt_h/2)+0.14416*(#ppt_y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1+#ppt_h/2)+0.27304*(#ppt_y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1+#ppt_h/2)+0.38576*(#ppt_y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1+#ppt_h/2)+0.48262*(#ppt_y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1+#ppt_h/2)+0.56479*(#ppt_y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1+#ppt_h/2)+0.63397*(#ppt_y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1+#ppt_h/2)+0.69198*(#ppt_y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1+#ppt_h/2)+0.74056*(#ppt_y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1+#ppt_h/2)+0.78128*(#ppt_y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1+#ppt_h/2)+0.81547*(#ppt_y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1+#ppt_h/2)+0.84426*(#ppt_y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1+#ppt_h/2)+0.86854*(#ppt_y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1+#ppt_h/2)+0.88909*(#ppt_y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1+#ppt_h/2)+0.90650*(#ppt_y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1+#ppt_h/2)+0.92128*(#ppt_y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1+#ppt_h/2)+0.93384*(#ppt_y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1+#ppt_h/2)+0.94453*(#ppt_y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1+#ppt_h/2)+0.95363*(#ppt_y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1+#ppt_h/2)+0.96137*(#ppt_y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1+#ppt_h/2)+0.96795*(#ppt_y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1+#ppt_h/2)+0.97356*(#ppt_y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1+#ppt_h/2)+0.97848*(#ppt_y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1+#ppt_h/2)+0.98283*(#ppt_y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1+#ppt_h/2)+0.98663*(#ppt_y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1+#ppt_h/2)+0.98993*(#ppt_y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1+#ppt_h/2)+0.99274*(#ppt_y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1+#ppt_h/2)+0.99510*(#ppt_y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1+#ppt_h/2)+0.99701*(#ppt_y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1+#ppt_h/2)+0.99848*(#ppt_y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1+#ppt_h/2)+0.99951*(#ppt_y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decel="5000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1+#ppt_h/2)+0.14416*(#ppt_y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1+#ppt_h/2)+0.27304*(#ppt_y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1+#ppt_h/2)+0.38576*(#ppt_y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1+#ppt_h/2)+0.48262*(#ppt_y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1+#ppt_h/2)+0.56479*(#ppt_y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1+#ppt_h/2)+0.63397*(#ppt_y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1+#ppt_h/2)+0.69198*(#ppt_y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1+#ppt_h/2)+0.74056*(#ppt_y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1+#ppt_h/2)+0.78128*(#ppt_y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1+#ppt_h/2)+0.81547*(#ppt_y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1+#ppt_h/2)+0.84426*(#ppt_y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1+#ppt_h/2)+0.86854*(#ppt_y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1+#ppt_h/2)+0.88909*(#ppt_y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1+#ppt_h/2)+0.90650*(#ppt_y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1+#ppt_h/2)+0.92128*(#ppt_y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1+#ppt_h/2)+0.93384*(#ppt_y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1+#ppt_h/2)+0.94453*(#ppt_y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1+#ppt_h/2)+0.95363*(#ppt_y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1+#ppt_h/2)+0.96137*(#ppt_y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1+#ppt_h/2)+0.96795*(#ppt_y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1+#ppt_h/2)+0.97356*(#ppt_y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1+#ppt_h/2)+0.97848*(#ppt_y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1+#ppt_h/2)+0.98283*(#ppt_y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1+#ppt_h/2)+0.98663*(#ppt_y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1+#ppt_h/2)+0.98993*(#ppt_y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1+#ppt_h/2)+0.99274*(#ppt_y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1+#ppt_h/2)+0.99510*(#ppt_y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1+#ppt_h/2)+0.99701*(#ppt_y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1+#ppt_h/2)+0.99848*(#ppt_y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1+#ppt_h/2)+0.99951*(#ppt_y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decel="5000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1+#ppt_h/2)+0.14416*(#ppt_y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1+#ppt_h/2)+0.27304*(#ppt_y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1+#ppt_h/2)+0.38576*(#ppt_y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1+#ppt_h/2)+0.48262*(#ppt_y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1+#ppt_h/2)+0.56479*(#ppt_y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1+#ppt_h/2)+0.63397*(#ppt_y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1+#ppt_h/2)+0.69198*(#ppt_y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1+#ppt_h/2)+0.74056*(#ppt_y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1+#ppt_h/2)+0.78128*(#ppt_y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1+#ppt_h/2)+0.81547*(#ppt_y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1+#ppt_h/2)+0.84426*(#ppt_y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1+#ppt_h/2)+0.86854*(#ppt_y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1+#ppt_h/2)+0.88909*(#ppt_y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1+#ppt_h/2)+0.90650*(#ppt_y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1+#ppt_h/2)+0.92128*(#ppt_y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1+#ppt_h/2)+0.93384*(#ppt_y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1+#ppt_h/2)+0.94453*(#ppt_y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1+#ppt_h/2)+0.95363*(#ppt_y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1+#ppt_h/2)+0.96137*(#ppt_y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1+#ppt_h/2)+0.96795*(#ppt_y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1+#ppt_h/2)+0.97356*(#ppt_y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1+#ppt_h/2)+0.97848*(#ppt_y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1+#ppt_h/2)+0.98283*(#ppt_y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1+#ppt_h/2)+0.98663*(#ppt_y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1+#ppt_h/2)+0.98993*(#ppt_y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1+#ppt_h/2)+0.99274*(#ppt_y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1+#ppt_h/2)+0.99510*(#ppt_y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1+#ppt_h/2)+0.99701*(#ppt_y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1+#ppt_h/2)+0.99848*(#ppt_y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1+#ppt_h/2)+0.99951*(#ppt_y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decel="5000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1+#ppt_h/2)+0.14416*(#ppt_y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1+#ppt_h/2)+0.27304*(#ppt_y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1+#ppt_h/2)+0.38576*(#ppt_y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1+#ppt_h/2)+0.48262*(#ppt_y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1+#ppt_h/2)+0.56479*(#ppt_y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1+#ppt_h/2)+0.63397*(#ppt_y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1+#ppt_h/2)+0.69198*(#ppt_y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1+#ppt_h/2)+0.74056*(#ppt_y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1+#ppt_h/2)+0.78128*(#ppt_y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1+#ppt_h/2)+0.81547*(#ppt_y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1+#ppt_h/2)+0.84426*(#ppt_y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1+#ppt_h/2)+0.86854*(#ppt_y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1+#ppt_h/2)+0.88909*(#ppt_y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1+#ppt_h/2)+0.90650*(#ppt_y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1+#ppt_h/2)+0.92128*(#ppt_y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1+#ppt_h/2)+0.93384*(#ppt_y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1+#ppt_h/2)+0.94453*(#ppt_y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1+#ppt_h/2)+0.95363*(#ppt_y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1+#ppt_h/2)+0.96137*(#ppt_y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1+#ppt_h/2)+0.96795*(#ppt_y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1+#ppt_h/2)+0.97356*(#ppt_y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1+#ppt_h/2)+0.97848*(#ppt_y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1+#ppt_h/2)+0.98283*(#ppt_y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1+#ppt_h/2)+0.98663*(#ppt_y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1+#ppt_h/2)+0.98993*(#ppt_y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1+#ppt_h/2)+0.99274*(#ppt_y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1+#ppt_h/2)+0.99510*(#ppt_y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1+#ppt_h/2)+0.99701*(#ppt_y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1+#ppt_h/2)+0.99848*(#ppt_y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1+#ppt_h/2)+0.99951*(#ppt_y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decel="5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1+#ppt_h/2)+0.14416*(#ppt_y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1+#ppt_h/2)+0.27304*(#ppt_y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1+#ppt_h/2)+0.38576*(#ppt_y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1+#ppt_h/2)+0.48262*(#ppt_y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1+#ppt_h/2)+0.56479*(#ppt_y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1+#ppt_h/2)+0.63397*(#ppt_y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1+#ppt_h/2)+0.69198*(#ppt_y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1+#ppt_h/2)+0.74056*(#ppt_y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1+#ppt_h/2)+0.78128*(#ppt_y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1+#ppt_h/2)+0.81547*(#ppt_y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1+#ppt_h/2)+0.84426*(#ppt_y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1+#ppt_h/2)+0.86854*(#ppt_y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1+#ppt_h/2)+0.88909*(#ppt_y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1+#ppt_h/2)+0.90650*(#ppt_y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1+#ppt_h/2)+0.92128*(#ppt_y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1+#ppt_h/2)+0.93384*(#ppt_y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1+#ppt_h/2)+0.94453*(#ppt_y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1+#ppt_h/2)+0.95363*(#ppt_y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1+#ppt_h/2)+0.96137*(#ppt_y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1+#ppt_h/2)+0.96795*(#ppt_y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1+#ppt_h/2)+0.97356*(#ppt_y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1+#ppt_h/2)+0.97848*(#ppt_y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1+#ppt_h/2)+0.98283*(#ppt_y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1+#ppt_h/2)+0.98663*(#ppt_y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1+#ppt_h/2)+0.98993*(#ppt_y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1+#ppt_h/2)+0.99274*(#ppt_y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1+#ppt_h/2)+0.99510*(#ppt_y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1+#ppt_h/2)+0.99701*(#ppt_y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1+#ppt_h/2)+0.99848*(#ppt_y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1+#ppt_h/2)+0.99951*(#ppt_y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decel="5000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1+#ppt_h/2)+0.14416*(#ppt_y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1+#ppt_h/2)+0.27304*(#ppt_y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1+#ppt_h/2)+0.38576*(#ppt_y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1+#ppt_h/2)+0.48262*(#ppt_y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1+#ppt_h/2)+0.56479*(#ppt_y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1+#ppt_h/2)+0.63397*(#ppt_y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1+#ppt_h/2)+0.69198*(#ppt_y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1+#ppt_h/2)+0.74056*(#ppt_y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1+#ppt_h/2)+0.78128*(#ppt_y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1+#ppt_h/2)+0.81547*(#ppt_y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1+#ppt_h/2)+0.84426*(#ppt_y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1+#ppt_h/2)+0.86854*(#ppt_y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1+#ppt_h/2)+0.88909*(#ppt_y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1+#ppt_h/2)+0.90650*(#ppt_y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1+#ppt_h/2)+0.92128*(#ppt_y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1+#ppt_h/2)+0.93384*(#ppt_y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1+#ppt_h/2)+0.94453*(#ppt_y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1+#ppt_h/2)+0.95363*(#ppt_y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1+#ppt_h/2)+0.96137*(#ppt_y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1+#ppt_h/2)+0.96795*(#ppt_y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1+#ppt_h/2)+0.97356*(#ppt_y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1+#ppt_h/2)+0.97848*(#ppt_y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1+#ppt_h/2)+0.98283*(#ppt_y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1+#ppt_h/2)+0.98663*(#ppt_y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1+#ppt_h/2)+0.98993*(#ppt_y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1+#ppt_h/2)+0.99274*(#ppt_y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1+#ppt_h/2)+0.99510*(#ppt_y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1+#ppt_h/2)+0.99701*(#ppt_y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1+#ppt_h/2)+0.99848*(#ppt_y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1+#ppt_h/2)+0.99951*(#ppt_y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decel="5000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1+#ppt_h/2)+0.14416*(#ppt_y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1+#ppt_h/2)+0.27304*(#ppt_y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1+#ppt_h/2)+0.38576*(#ppt_y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1+#ppt_h/2)+0.48262*(#ppt_y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1+#ppt_h/2)+0.56479*(#ppt_y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1+#ppt_h/2)+0.63397*(#ppt_y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1+#ppt_h/2)+0.69198*(#ppt_y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1+#ppt_h/2)+0.74056*(#ppt_y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1+#ppt_h/2)+0.78128*(#ppt_y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1+#ppt_h/2)+0.81547*(#ppt_y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1+#ppt_h/2)+0.84426*(#ppt_y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1+#ppt_h/2)+0.86854*(#ppt_y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1+#ppt_h/2)+0.88909*(#ppt_y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1+#ppt_h/2)+0.90650*(#ppt_y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1+#ppt_h/2)+0.92128*(#ppt_y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1+#ppt_h/2)+0.93384*(#ppt_y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1+#ppt_h/2)+0.94453*(#ppt_y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1+#ppt_h/2)+0.95363*(#ppt_y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1+#ppt_h/2)+0.96137*(#ppt_y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1+#ppt_h/2)+0.96795*(#ppt_y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1+#ppt_h/2)+0.97356*(#ppt_y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1+#ppt_h/2)+0.97848*(#ppt_y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1+#ppt_h/2)+0.98283*(#ppt_y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1+#ppt_h/2)+0.98663*(#ppt_y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1+#ppt_h/2)+0.98993*(#ppt_y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1+#ppt_h/2)+0.99274*(#ppt_y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1+#ppt_h/2)+0.99510*(#ppt_y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1+#ppt_h/2)+0.99701*(#ppt_y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1+#ppt_h/2)+0.99848*(#ppt_y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1+#ppt_h/2)+0.99951*(#ppt_y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decel="5000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1+#ppt_h/2)+0.14416*(#ppt_y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1+#ppt_h/2)+0.27304*(#ppt_y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1+#ppt_h/2)+0.38576*(#ppt_y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1+#ppt_h/2)+0.48262*(#ppt_y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1+#ppt_h/2)+0.56479*(#ppt_y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1+#ppt_h/2)+0.63397*(#ppt_y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1+#ppt_h/2)+0.69198*(#ppt_y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1+#ppt_h/2)+0.74056*(#ppt_y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1+#ppt_h/2)+0.78128*(#ppt_y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1+#ppt_h/2)+0.81547*(#ppt_y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1+#ppt_h/2)+0.84426*(#ppt_y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1+#ppt_h/2)+0.86854*(#ppt_y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1+#ppt_h/2)+0.88909*(#ppt_y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1+#ppt_h/2)+0.90650*(#ppt_y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1+#ppt_h/2)+0.92128*(#ppt_y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1+#ppt_h/2)+0.93384*(#ppt_y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1+#ppt_h/2)+0.94453*(#ppt_y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1+#ppt_h/2)+0.95363*(#ppt_y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1+#ppt_h/2)+0.96137*(#ppt_y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1+#ppt_h/2)+0.96795*(#ppt_y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1+#ppt_h/2)+0.97356*(#ppt_y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1+#ppt_h/2)+0.97848*(#ppt_y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1+#ppt_h/2)+0.98283*(#ppt_y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1+#ppt_h/2)+0.98663*(#ppt_y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1+#ppt_h/2)+0.98993*(#ppt_y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1+#ppt_h/2)+0.99274*(#ppt_y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1+#ppt_h/2)+0.99510*(#ppt_y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1+#ppt_h/2)+0.99701*(#ppt_y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1+#ppt_h/2)+0.99848*(#ppt_y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1+#ppt_h/2)+0.99951*(#ppt_y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decel="5000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1+#ppt_h/2)+0.14416*(#ppt_y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1+#ppt_h/2)+0.27304*(#ppt_y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1+#ppt_h/2)+0.38576*(#ppt_y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1+#ppt_h/2)+0.48262*(#ppt_y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1+#ppt_h/2)+0.56479*(#ppt_y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1+#ppt_h/2)+0.63397*(#ppt_y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1+#ppt_h/2)+0.69198*(#ppt_y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1+#ppt_h/2)+0.74056*(#ppt_y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1+#ppt_h/2)+0.78128*(#ppt_y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1+#ppt_h/2)+0.81547*(#ppt_y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1+#ppt_h/2)+0.84426*(#ppt_y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1+#ppt_h/2)+0.86854*(#ppt_y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1+#ppt_h/2)+0.88909*(#ppt_y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1+#ppt_h/2)+0.90650*(#ppt_y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1+#ppt_h/2)+0.92128*(#ppt_y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1+#ppt_h/2)+0.93384*(#ppt_y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1+#ppt_h/2)+0.94453*(#ppt_y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1+#ppt_h/2)+0.95363*(#ppt_y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1+#ppt_h/2)+0.96137*(#ppt_y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1+#ppt_h/2)+0.96795*(#ppt_y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1+#ppt_h/2)+0.97356*(#ppt_y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1+#ppt_h/2)+0.97848*(#ppt_y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1+#ppt_h/2)+0.98283*(#ppt_y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1+#ppt_h/2)+0.98663*(#ppt_y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1+#ppt_h/2)+0.98993*(#ppt_y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1+#ppt_h/2)+0.99274*(#ppt_y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1+#ppt_h/2)+0.99510*(#ppt_y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1+#ppt_h/2)+0.99701*(#ppt_y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1+#ppt_h/2)+0.99848*(#ppt_y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1+#ppt_h/2)+0.99951*(#ppt_y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decel="5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1+#ppt_h/2)+0.14416*(#ppt_y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1+#ppt_h/2)+0.27304*(#ppt_y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1+#ppt_h/2)+0.38576*(#ppt_y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1+#ppt_h/2)+0.48262*(#ppt_y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1+#ppt_h/2)+0.56479*(#ppt_y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1+#ppt_h/2)+0.63397*(#ppt_y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1+#ppt_h/2)+0.69198*(#ppt_y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1+#ppt_h/2)+0.74056*(#ppt_y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1+#ppt_h/2)+0.78128*(#ppt_y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1+#ppt_h/2)+0.81547*(#ppt_y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1+#ppt_h/2)+0.84426*(#ppt_y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1+#ppt_h/2)+0.86854*(#ppt_y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1+#ppt_h/2)+0.88909*(#ppt_y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1+#ppt_h/2)+0.90650*(#ppt_y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1+#ppt_h/2)+0.92128*(#ppt_y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1+#ppt_h/2)+0.93384*(#ppt_y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1+#ppt_h/2)+0.94453*(#ppt_y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1+#ppt_h/2)+0.95363*(#ppt_y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1+#ppt_h/2)+0.96137*(#ppt_y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1+#ppt_h/2)+0.96795*(#ppt_y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1+#ppt_h/2)+0.97356*(#ppt_y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1+#ppt_h/2)+0.97848*(#ppt_y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1+#ppt_h/2)+0.98283*(#ppt_y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1+#ppt_h/2)+0.98663*(#ppt_y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1+#ppt_h/2)+0.98993*(#ppt_y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1+#ppt_h/2)+0.99274*(#ppt_y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1+#ppt_h/2)+0.99510*(#ppt_y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1+#ppt_h/2)+0.99701*(#ppt_y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1+#ppt_h/2)+0.99848*(#ppt_y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1+#ppt_h/2)+0.99951*(#ppt_y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4" decel="5000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1+#ppt_h/2)+0.14416*(#ppt_y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1+#ppt_h/2)+0.27304*(#ppt_y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1+#ppt_h/2)+0.38576*(#ppt_y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1+#ppt_h/2)+0.48262*(#ppt_y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1+#ppt_h/2)+0.56479*(#ppt_y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1+#ppt_h/2)+0.63397*(#ppt_y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1+#ppt_h/2)+0.69198*(#ppt_y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1+#ppt_h/2)+0.74056*(#ppt_y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1+#ppt_h/2)+0.78128*(#ppt_y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1+#ppt_h/2)+0.81547*(#ppt_y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1+#ppt_h/2)+0.84426*(#ppt_y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1+#ppt_h/2)+0.86854*(#ppt_y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1+#ppt_h/2)+0.88909*(#ppt_y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1+#ppt_h/2)+0.90650*(#ppt_y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1+#ppt_h/2)+0.92128*(#ppt_y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1+#ppt_h/2)+0.93384*(#ppt_y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1+#ppt_h/2)+0.94453*(#ppt_y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1+#ppt_h/2)+0.95363*(#ppt_y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1+#ppt_h/2)+0.96137*(#ppt_y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1+#ppt_h/2)+0.96795*(#ppt_y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1+#ppt_h/2)+0.97356*(#ppt_y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1+#ppt_h/2)+0.97848*(#ppt_y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1+#ppt_h/2)+0.98283*(#ppt_y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1+#ppt_h/2)+0.98663*(#ppt_y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1+#ppt_h/2)+0.98993*(#ppt_y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1+#ppt_h/2)+0.99274*(#ppt_y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1+#ppt_h/2)+0.99510*(#ppt_y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1+#ppt_h/2)+0.99701*(#ppt_y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1+#ppt_h/2)+0.99848*(#ppt_y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1+#ppt_h/2)+0.99951*(#ppt_y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decel="5000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1+#ppt_h/2)+0.14416*(#ppt_y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1+#ppt_h/2)+0.27304*(#ppt_y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1+#ppt_h/2)+0.38576*(#ppt_y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1+#ppt_h/2)+0.48262*(#ppt_y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1+#ppt_h/2)+0.56479*(#ppt_y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1+#ppt_h/2)+0.63397*(#ppt_y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1+#ppt_h/2)+0.69198*(#ppt_y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1+#ppt_h/2)+0.74056*(#ppt_y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1+#ppt_h/2)+0.78128*(#ppt_y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1+#ppt_h/2)+0.81547*(#ppt_y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1+#ppt_h/2)+0.84426*(#ppt_y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1+#ppt_h/2)+0.86854*(#ppt_y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1+#ppt_h/2)+0.88909*(#ppt_y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1+#ppt_h/2)+0.90650*(#ppt_y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1+#ppt_h/2)+0.92128*(#ppt_y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1+#ppt_h/2)+0.93384*(#ppt_y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1+#ppt_h/2)+0.94453*(#ppt_y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1+#ppt_h/2)+0.95363*(#ppt_y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1+#ppt_h/2)+0.96137*(#ppt_y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1+#ppt_h/2)+0.96795*(#ppt_y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1+#ppt_h/2)+0.97356*(#ppt_y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1+#ppt_h/2)+0.97848*(#ppt_y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1+#ppt_h/2)+0.98283*(#ppt_y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1+#ppt_h/2)+0.98663*(#ppt_y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1+#ppt_h/2)+0.98993*(#ppt_y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1+#ppt_h/2)+0.99274*(#ppt_y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1+#ppt_h/2)+0.99510*(#ppt_y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1+#ppt_h/2)+0.99701*(#ppt_y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1+#ppt_h/2)+0.99848*(#ppt_y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1+#ppt_h/2)+0.99951*(#ppt_y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4" decel="5000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1+#ppt_h/2)+0.14416*(#ppt_y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1+#ppt_h/2)+0.27304*(#ppt_y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1+#ppt_h/2)+0.38576*(#ppt_y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1+#ppt_h/2)+0.48262*(#ppt_y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1+#ppt_h/2)+0.56479*(#ppt_y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1+#ppt_h/2)+0.63397*(#ppt_y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1+#ppt_h/2)+0.69198*(#ppt_y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1+#ppt_h/2)+0.74056*(#ppt_y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1+#ppt_h/2)+0.78128*(#ppt_y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1+#ppt_h/2)+0.81547*(#ppt_y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1+#ppt_h/2)+0.84426*(#ppt_y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1+#ppt_h/2)+0.86854*(#ppt_y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1+#ppt_h/2)+0.88909*(#ppt_y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1+#ppt_h/2)+0.90650*(#ppt_y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1+#ppt_h/2)+0.92128*(#ppt_y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1+#ppt_h/2)+0.93384*(#ppt_y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1+#ppt_h/2)+0.94453*(#ppt_y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1+#ppt_h/2)+0.95363*(#ppt_y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1+#ppt_h/2)+0.96137*(#ppt_y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1+#ppt_h/2)+0.96795*(#ppt_y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1+#ppt_h/2)+0.97356*(#ppt_y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1+#ppt_h/2)+0.97848*(#ppt_y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1+#ppt_h/2)+0.98283*(#ppt_y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1+#ppt_h/2)+0.98663*(#ppt_y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1+#ppt_h/2)+0.98993*(#ppt_y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1+#ppt_h/2)+0.99274*(#ppt_y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1+#ppt_h/2)+0.99510*(#ppt_y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1+#ppt_h/2)+0.99701*(#ppt_y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1+#ppt_h/2)+0.99848*(#ppt_y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1+#ppt_h/2)+0.99951*(#ppt_y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decel="5000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1+#ppt_h/2)+0.14416*(#ppt_y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1+#ppt_h/2)+0.27304*(#ppt_y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1+#ppt_h/2)+0.38576*(#ppt_y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1+#ppt_h/2)+0.48262*(#ppt_y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1+#ppt_h/2)+0.56479*(#ppt_y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1+#ppt_h/2)+0.63397*(#ppt_y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1+#ppt_h/2)+0.69198*(#ppt_y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1+#ppt_h/2)+0.74056*(#ppt_y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1+#ppt_h/2)+0.78128*(#ppt_y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1+#ppt_h/2)+0.81547*(#ppt_y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1+#ppt_h/2)+0.84426*(#ppt_y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1+#ppt_h/2)+0.86854*(#ppt_y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1+#ppt_h/2)+0.88909*(#ppt_y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1+#ppt_h/2)+0.90650*(#ppt_y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1+#ppt_h/2)+0.92128*(#ppt_y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1+#ppt_h/2)+0.93384*(#ppt_y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1+#ppt_h/2)+0.94453*(#ppt_y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1+#ppt_h/2)+0.95363*(#ppt_y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1+#ppt_h/2)+0.96137*(#ppt_y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1+#ppt_h/2)+0.96795*(#ppt_y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1+#ppt_h/2)+0.97356*(#ppt_y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1+#ppt_h/2)+0.97848*(#ppt_y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1+#ppt_h/2)+0.98283*(#ppt_y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1+#ppt_h/2)+0.98663*(#ppt_y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1+#ppt_h/2)+0.98993*(#ppt_y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1+#ppt_h/2)+0.99274*(#ppt_y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1+#ppt_h/2)+0.99510*(#ppt_y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1+#ppt_h/2)+0.99701*(#ppt_y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1+#ppt_h/2)+0.99848*(#ppt_y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1+#ppt_h/2)+0.99951*(#ppt_y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4" decel="5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1+#ppt_h/2)+0.14416*(#ppt_y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1+#ppt_h/2)+0.27304*(#ppt_y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1+#ppt_h/2)+0.38576*(#ppt_y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1+#ppt_h/2)+0.48262*(#ppt_y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1+#ppt_h/2)+0.56479*(#ppt_y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1+#ppt_h/2)+0.63397*(#ppt_y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1+#ppt_h/2)+0.69198*(#ppt_y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1+#ppt_h/2)+0.74056*(#ppt_y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1+#ppt_h/2)+0.78128*(#ppt_y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1+#ppt_h/2)+0.81547*(#ppt_y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1+#ppt_h/2)+0.84426*(#ppt_y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1+#ppt_h/2)+0.86854*(#ppt_y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1+#ppt_h/2)+0.88909*(#ppt_y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1+#ppt_h/2)+0.90650*(#ppt_y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1+#ppt_h/2)+0.92128*(#ppt_y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1+#ppt_h/2)+0.93384*(#ppt_y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1+#ppt_h/2)+0.94453*(#ppt_y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1+#ppt_h/2)+0.95363*(#ppt_y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1+#ppt_h/2)+0.96137*(#ppt_y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1+#ppt_h/2)+0.96795*(#ppt_y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1+#ppt_h/2)+0.97356*(#ppt_y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1+#ppt_h/2)+0.97848*(#ppt_y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1+#ppt_h/2)+0.98283*(#ppt_y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1+#ppt_h/2)+0.98663*(#ppt_y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1+#ppt_h/2)+0.98993*(#ppt_y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1+#ppt_h/2)+0.99274*(#ppt_y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1+#ppt_h/2)+0.99510*(#ppt_y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1+#ppt_h/2)+0.99701*(#ppt_y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1+#ppt_h/2)+0.99848*(#ppt_y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1+#ppt_h/2)+0.99951*(#ppt_y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decel="5000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1+#ppt_h/2)+0.14416*(#ppt_y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1+#ppt_h/2)+0.27304*(#ppt_y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1+#ppt_h/2)+0.38576*(#ppt_y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1+#ppt_h/2)+0.48262*(#ppt_y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1+#ppt_h/2)+0.56479*(#ppt_y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1+#ppt_h/2)+0.63397*(#ppt_y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1+#ppt_h/2)+0.69198*(#ppt_y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1+#ppt_h/2)+0.74056*(#ppt_y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1+#ppt_h/2)+0.78128*(#ppt_y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1+#ppt_h/2)+0.81547*(#ppt_y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1+#ppt_h/2)+0.84426*(#ppt_y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1+#ppt_h/2)+0.86854*(#ppt_y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1+#ppt_h/2)+0.88909*(#ppt_y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1+#ppt_h/2)+0.90650*(#ppt_y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1+#ppt_h/2)+0.92128*(#ppt_y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1+#ppt_h/2)+0.93384*(#ppt_y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1+#ppt_h/2)+0.94453*(#ppt_y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1+#ppt_h/2)+0.95363*(#ppt_y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1+#ppt_h/2)+0.96137*(#ppt_y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1+#ppt_h/2)+0.96795*(#ppt_y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1+#ppt_h/2)+0.97356*(#ppt_y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1+#ppt_h/2)+0.97848*(#ppt_y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1+#ppt_h/2)+0.98283*(#ppt_y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1+#ppt_h/2)+0.98663*(#ppt_y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1+#ppt_h/2)+0.98993*(#ppt_y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1+#ppt_h/2)+0.99274*(#ppt_y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1+#ppt_h/2)+0.99510*(#ppt_y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1+#ppt_h/2)+0.99701*(#ppt_y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1+#ppt_h/2)+0.99848*(#ppt_y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1+#ppt_h/2)+0.99951*(#ppt_y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2" presetClass="entr" presetSubtype="4" decel="5000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1+#ppt_h/2)+0.14416*(#ppt_y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1+#ppt_h/2)+0.27304*(#ppt_y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1+#ppt_h/2)+0.38576*(#ppt_y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1+#ppt_h/2)+0.48262*(#ppt_y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1+#ppt_h/2)+0.56479*(#ppt_y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1+#ppt_h/2)+0.63397*(#ppt_y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1+#ppt_h/2)+0.69198*(#ppt_y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1+#ppt_h/2)+0.74056*(#ppt_y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1+#ppt_h/2)+0.78128*(#ppt_y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1+#ppt_h/2)+0.81547*(#ppt_y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1+#ppt_h/2)+0.84426*(#ppt_y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1+#ppt_h/2)+0.86854*(#ppt_y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1+#ppt_h/2)+0.88909*(#ppt_y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1+#ppt_h/2)+0.90650*(#ppt_y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1+#ppt_h/2)+0.92128*(#ppt_y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1+#ppt_h/2)+0.93384*(#ppt_y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1+#ppt_h/2)+0.94453*(#ppt_y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1+#ppt_h/2)+0.95363*(#ppt_y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1+#ppt_h/2)+0.96137*(#ppt_y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1+#ppt_h/2)+0.96795*(#ppt_y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1+#ppt_h/2)+0.97356*(#ppt_y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1+#ppt_h/2)+0.97848*(#ppt_y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1+#ppt_h/2)+0.98283*(#ppt_y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1+#ppt_h/2)+0.98663*(#ppt_y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1+#ppt_h/2)+0.98993*(#ppt_y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1+#ppt_h/2)+0.99274*(#ppt_y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1+#ppt_h/2)+0.99510*(#ppt_y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1+#ppt_h/2)+0.99701*(#ppt_y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1+#ppt_h/2)+0.99848*(#ppt_y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1+#ppt_h/2)+0.99951*(#ppt_y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decel="5000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1+#ppt_h/2)+0.14416*(#ppt_y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1+#ppt_h/2)+0.27304*(#ppt_y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1+#ppt_h/2)+0.38576*(#ppt_y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1+#ppt_h/2)+0.48262*(#ppt_y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1+#ppt_h/2)+0.56479*(#ppt_y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1+#ppt_h/2)+0.63397*(#ppt_y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1+#ppt_h/2)+0.69198*(#ppt_y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1+#ppt_h/2)+0.74056*(#ppt_y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1+#ppt_h/2)+0.78128*(#ppt_y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1+#ppt_h/2)+0.81547*(#ppt_y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1+#ppt_h/2)+0.84426*(#ppt_y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1+#ppt_h/2)+0.86854*(#ppt_y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1+#ppt_h/2)+0.88909*(#ppt_y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1+#ppt_h/2)+0.90650*(#ppt_y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1+#ppt_h/2)+0.92128*(#ppt_y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1+#ppt_h/2)+0.93384*(#ppt_y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1+#ppt_h/2)+0.94453*(#ppt_y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1+#ppt_h/2)+0.95363*(#ppt_y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1+#ppt_h/2)+0.96137*(#ppt_y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1+#ppt_h/2)+0.96795*(#ppt_y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1+#ppt_h/2)+0.97356*(#ppt_y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1+#ppt_h/2)+0.97848*(#ppt_y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1+#ppt_h/2)+0.98283*(#ppt_y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1+#ppt_h/2)+0.98663*(#ppt_y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1+#ppt_h/2)+0.98993*(#ppt_y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1+#ppt_h/2)+0.99274*(#ppt_y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1+#ppt_h/2)+0.99510*(#ppt_y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1+#ppt_h/2)+0.99701*(#ppt_y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1+#ppt_h/2)+0.99848*(#ppt_y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1+#ppt_h/2)+0.99951*(#ppt_y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2" presetClass="entr" presetSubtype="4" decel="50000" fill="hold" grpId="0" nodeType="with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1+#ppt_h/2)+0.14416*(#ppt_y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1+#ppt_h/2)+0.27304*(#ppt_y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1+#ppt_h/2)+0.38576*(#ppt_y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1+#ppt_h/2)+0.48262*(#ppt_y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1+#ppt_h/2)+0.56479*(#ppt_y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1+#ppt_h/2)+0.63397*(#ppt_y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1+#ppt_h/2)+0.69198*(#ppt_y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1+#ppt_h/2)+0.74056*(#ppt_y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1+#ppt_h/2)+0.78128*(#ppt_y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1+#ppt_h/2)+0.81547*(#ppt_y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1+#ppt_h/2)+0.84426*(#ppt_y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1+#ppt_h/2)+0.86854*(#ppt_y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1+#ppt_h/2)+0.88909*(#ppt_y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1+#ppt_h/2)+0.90650*(#ppt_y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1+#ppt_h/2)+0.92128*(#ppt_y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1+#ppt_h/2)+0.93384*(#ppt_y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1+#ppt_h/2)+0.94453*(#ppt_y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1+#ppt_h/2)+0.95363*(#ppt_y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1+#ppt_h/2)+0.96137*(#ppt_y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1+#ppt_h/2)+0.96795*(#ppt_y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1+#ppt_h/2)+0.97356*(#ppt_y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1+#ppt_h/2)+0.97848*(#ppt_y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1+#ppt_h/2)+0.98283*(#ppt_y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1+#ppt_h/2)+0.98663*(#ppt_y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1+#ppt_h/2)+0.98993*(#ppt_y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1+#ppt_h/2)+0.99274*(#ppt_y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1+#ppt_h/2)+0.99510*(#ppt_y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1+#ppt_h/2)+0.99701*(#ppt_y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1+#ppt_h/2)+0.99848*(#ppt_y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1+#ppt_h/2)+0.99951*(#ppt_y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decel="5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1+#ppt_h/2)+0.14416*(#ppt_y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1+#ppt_h/2)+0.27304*(#ppt_y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1+#ppt_h/2)+0.38576*(#ppt_y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1+#ppt_h/2)+0.48262*(#ppt_y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1+#ppt_h/2)+0.56479*(#ppt_y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1+#ppt_h/2)+0.63397*(#ppt_y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1+#ppt_h/2)+0.69198*(#ppt_y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1+#ppt_h/2)+0.74056*(#ppt_y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1+#ppt_h/2)+0.78128*(#ppt_y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1+#ppt_h/2)+0.81547*(#ppt_y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1+#ppt_h/2)+0.84426*(#ppt_y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1+#ppt_h/2)+0.86854*(#ppt_y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1+#ppt_h/2)+0.88909*(#ppt_y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1+#ppt_h/2)+0.90650*(#ppt_y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1+#ppt_h/2)+0.92128*(#ppt_y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1+#ppt_h/2)+0.93384*(#ppt_y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1+#ppt_h/2)+0.94453*(#ppt_y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1+#ppt_h/2)+0.95363*(#ppt_y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1+#ppt_h/2)+0.96137*(#ppt_y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1+#ppt_h/2)+0.96795*(#ppt_y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1+#ppt_h/2)+0.97356*(#ppt_y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1+#ppt_h/2)+0.97848*(#ppt_y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1+#ppt_h/2)+0.98283*(#ppt_y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1+#ppt_h/2)+0.98663*(#ppt_y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1+#ppt_h/2)+0.98993*(#ppt_y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1+#ppt_h/2)+0.99274*(#ppt_y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1+#ppt_h/2)+0.99510*(#ppt_y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1+#ppt_h/2)+0.99701*(#ppt_y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1+#ppt_h/2)+0.99848*(#ppt_y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1+#ppt_h/2)+0.99951*(#ppt_y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2" presetClass="entr" presetSubtype="4" decel="5000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1+#ppt_h/2)+0.14416*(#ppt_y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1+#ppt_h/2)+0.27304*(#ppt_y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1+#ppt_h/2)+0.38576*(#ppt_y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1+#ppt_h/2)+0.48262*(#ppt_y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1+#ppt_h/2)+0.56479*(#ppt_y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1+#ppt_h/2)+0.63397*(#ppt_y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1+#ppt_h/2)+0.69198*(#ppt_y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1+#ppt_h/2)+0.74056*(#ppt_y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1+#ppt_h/2)+0.78128*(#ppt_y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1+#ppt_h/2)+0.81547*(#ppt_y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1+#ppt_h/2)+0.84426*(#ppt_y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1+#ppt_h/2)+0.86854*(#ppt_y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1+#ppt_h/2)+0.88909*(#ppt_y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1+#ppt_h/2)+0.90650*(#ppt_y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1+#ppt_h/2)+0.92128*(#ppt_y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1+#ppt_h/2)+0.93384*(#ppt_y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1+#ppt_h/2)+0.94453*(#ppt_y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1+#ppt_h/2)+0.95363*(#ppt_y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1+#ppt_h/2)+0.96137*(#ppt_y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1+#ppt_h/2)+0.96795*(#ppt_y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1+#ppt_h/2)+0.97356*(#ppt_y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1+#ppt_h/2)+0.97848*(#ppt_y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1+#ppt_h/2)+0.98283*(#ppt_y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1+#ppt_h/2)+0.98663*(#ppt_y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1+#ppt_h/2)+0.98993*(#ppt_y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1+#ppt_h/2)+0.99274*(#ppt_y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1+#ppt_h/2)+0.99510*(#ppt_y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1+#ppt_h/2)+0.99701*(#ppt_y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1+#ppt_h/2)+0.99848*(#ppt_y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1+#ppt_h/2)+0.99951*(#ppt_y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4" decel="5000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3225">
                                          <p:val>
                                            <p:strVal val="0.85584*(1+#ppt_h/2)+0.14416*(#ppt_y)"/>
                                          </p:val>
                                        </p:tav>
                                        <p:tav tm="6451">
                                          <p:val>
                                            <p:strVal val="0.72696*(1+#ppt_h/2)+0.27304*(#ppt_y)"/>
                                          </p:val>
                                        </p:tav>
                                        <p:tav tm="9677">
                                          <p:val>
                                            <p:strVal val="0.61424*(1+#ppt_h/2)+0.38576*(#ppt_y)"/>
                                          </p:val>
                                        </p:tav>
                                        <p:tav tm="12903">
                                          <p:val>
                                            <p:strVal val="0.51738*(1+#ppt_h/2)+0.48262*(#ppt_y)"/>
                                          </p:val>
                                        </p:tav>
                                        <p:tav tm="16129">
                                          <p:val>
                                            <p:strVal val="0.43521*(1+#ppt_h/2)+0.56479*(#ppt_y)"/>
                                          </p:val>
                                        </p:tav>
                                        <p:tav tm="19354">
                                          <p:val>
                                            <p:strVal val="0.36603*(1+#ppt_h/2)+0.63397*(#ppt_y)"/>
                                          </p:val>
                                        </p:tav>
                                        <p:tav tm="22580">
                                          <p:val>
                                            <p:strVal val="0.30802*(1+#ppt_h/2)+0.69198*(#ppt_y)"/>
                                          </p:val>
                                        </p:tav>
                                        <p:tav tm="25806">
                                          <p:val>
                                            <p:strVal val="0.25944*(1+#ppt_h/2)+0.74056*(#ppt_y)"/>
                                          </p:val>
                                        </p:tav>
                                        <p:tav tm="29032">
                                          <p:val>
                                            <p:strVal val="0.21872*(1+#ppt_h/2)+0.78128*(#ppt_y)"/>
                                          </p:val>
                                        </p:tav>
                                        <p:tav tm="32258">
                                          <p:val>
                                            <p:strVal val="0.18453*(1+#ppt_h/2)+0.81547*(#ppt_y)"/>
                                          </p:val>
                                        </p:tav>
                                        <p:tav tm="35483">
                                          <p:val>
                                            <p:strVal val="0.15574*(1+#ppt_h/2)+0.84426*(#ppt_y)"/>
                                          </p:val>
                                        </p:tav>
                                        <p:tav tm="38709">
                                          <p:val>
                                            <p:strVal val="0.13146*(1+#ppt_h/2)+0.86854*(#ppt_y)"/>
                                          </p:val>
                                        </p:tav>
                                        <p:tav tm="41935">
                                          <p:val>
                                            <p:strVal val="0.11091*(1+#ppt_h/2)+0.88909*(#ppt_y)"/>
                                          </p:val>
                                        </p:tav>
                                        <p:tav tm="45161">
                                          <p:val>
                                            <p:strVal val="0.09350*(1+#ppt_h/2)+0.90650*(#ppt_y)"/>
                                          </p:val>
                                        </p:tav>
                                        <p:tav tm="48387">
                                          <p:val>
                                            <p:strVal val="0.07872*(1+#ppt_h/2)+0.92128*(#ppt_y)"/>
                                          </p:val>
                                        </p:tav>
                                        <p:tav tm="51612">
                                          <p:val>
                                            <p:strVal val="0.06616*(1+#ppt_h/2)+0.93384*(#ppt_y)"/>
                                          </p:val>
                                        </p:tav>
                                        <p:tav tm="54838">
                                          <p:val>
                                            <p:strVal val="0.05547*(1+#ppt_h/2)+0.94453*(#ppt_y)"/>
                                          </p:val>
                                        </p:tav>
                                        <p:tav tm="58064">
                                          <p:val>
                                            <p:strVal val="0.04637*(1+#ppt_h/2)+0.95363*(#ppt_y)"/>
                                          </p:val>
                                        </p:tav>
                                        <p:tav tm="61290">
                                          <p:val>
                                            <p:strVal val="0.03863*(1+#ppt_h/2)+0.96137*(#ppt_y)"/>
                                          </p:val>
                                        </p:tav>
                                        <p:tav tm="64516">
                                          <p:val>
                                            <p:strVal val="0.03205*(1+#ppt_h/2)+0.96795*(#ppt_y)"/>
                                          </p:val>
                                        </p:tav>
                                        <p:tav tm="67741">
                                          <p:val>
                                            <p:strVal val="0.02644*(1+#ppt_h/2)+0.97356*(#ppt_y)"/>
                                          </p:val>
                                        </p:tav>
                                        <p:tav tm="70967">
                                          <p:val>
                                            <p:strVal val="0.02152*(1+#ppt_h/2)+0.97848*(#ppt_y)"/>
                                          </p:val>
                                        </p:tav>
                                        <p:tav tm="74193">
                                          <p:val>
                                            <p:strVal val="0.01717*(1+#ppt_h/2)+0.98283*(#ppt_y)"/>
                                          </p:val>
                                        </p:tav>
                                        <p:tav tm="77419">
                                          <p:val>
                                            <p:strVal val="0.01337*(1+#ppt_h/2)+0.98663*(#ppt_y)"/>
                                          </p:val>
                                        </p:tav>
                                        <p:tav tm="80645">
                                          <p:val>
                                            <p:strVal val="0.01007*(1+#ppt_h/2)+0.98993*(#ppt_y)"/>
                                          </p:val>
                                        </p:tav>
                                        <p:tav tm="83870">
                                          <p:val>
                                            <p:strVal val="0.00726*(1+#ppt_h/2)+0.99274*(#ppt_y)"/>
                                          </p:val>
                                        </p:tav>
                                        <p:tav tm="87096">
                                          <p:val>
                                            <p:strVal val="0.00490*(1+#ppt_h/2)+0.99510*(#ppt_y)"/>
                                          </p:val>
                                        </p:tav>
                                        <p:tav tm="90322">
                                          <p:val>
                                            <p:strVal val="0.00299*(1+#ppt_h/2)+0.99701*(#ppt_y)"/>
                                          </p:val>
                                        </p:tav>
                                        <p:tav tm="93548">
                                          <p:val>
                                            <p:strVal val="0.00152*(1+#ppt_h/2)+0.99848*(#ppt_y)"/>
                                          </p:val>
                                        </p:tav>
                                        <p:tav tm="96774">
                                          <p:val>
                                            <p:strVal val="0.00049*(1+#ppt_h/2)+0.99951*(#ppt_y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1E8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148840"/>
            <a:ext cx="106984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bottom line</a:t>
            </a:r>
            <a:endParaRPr lang="en-US" sz="5400" dirty="0"/>
          </a:p>
        </p:txBody>
      </p:sp>
      <p:sp>
        <p:nvSpPr>
          <p:cNvPr id="4" name="Divi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4069080"/>
            <a:ext cx="10698480" cy="27432"/>
          </a:xfrm>
          <a:prstGeom prst="rect">
            <a:avLst/>
          </a:prstGeom>
          <a:solidFill>
            <a:srgbClr val="F5E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429768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Two aggregators, five states and one peak month explain most of this dashboard.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 the labelling and the date range, then run the same page again.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5760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300" dirty="0">
                <a:solidFill>
                  <a:srgbClr val="F5E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 OF REPORT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925</Words>
  <Application>Microsoft Office PowerPoint</Application>
  <PresentationFormat>Widescreen</PresentationFormat>
  <Paragraphs>186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Consolas</vt:lpstr>
      <vt:lpstr>Office Theme</vt:lpstr>
      <vt:lpstr>Online Food Delivery Annual Report</vt:lpstr>
      <vt:lpstr>The source: one Power BI page, six views</vt:lpstr>
      <vt:lpstr>Four numbers carry the whole report</vt:lpstr>
      <vt:lpstr>What this deck covers</vt:lpstr>
      <vt:lpstr>Quantity by channel: a two-horse race</vt:lpstr>
      <vt:lpstr>The aggregator duopoly owns the customer</vt:lpstr>
      <vt:lpstr>The challenger tier is tightly bunched</vt:lpstr>
      <vt:lpstr>Amount by ship-state: a long tail</vt:lpstr>
      <vt:lpstr>Five states set the tone for the year</vt:lpstr>
      <vt:lpstr>March peaks, then April falls off a cliff</vt:lpstr>
      <vt:lpstr>Four explanations for the April drop</vt:lpstr>
      <vt:lpstr>The menu mix behind every order</vt:lpstr>
      <vt:lpstr>Fix these before the report is trusted</vt:lpstr>
      <vt:lpstr>Three moves for the next quarter</vt:lpstr>
      <vt:lpstr>The bottom line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Gtec Perumbavoor</dc:creator>
  <cp:lastModifiedBy>Gtec Perumbavoor</cp:lastModifiedBy>
  <cp:revision>1</cp:revision>
  <dcterms:created xsi:type="dcterms:W3CDTF">2026-09-21T04:16:37Z</dcterms:created>
  <dcterms:modified xsi:type="dcterms:W3CDTF">2026-09-21T04:22:34Z</dcterms:modified>
</cp:coreProperties>
</file>