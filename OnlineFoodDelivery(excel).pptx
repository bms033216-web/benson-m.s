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1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(000s)</c:v>
                </c:pt>
              </c:strCache>
            </c:strRef>
          </c:tx>
          <c:spPr>
            <a:solidFill>
              <a:srgbClr val="1B4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Swiggy</c:v>
                </c:pt>
                <c:pt idx="1">
                  <c:v>Domino's</c:v>
                </c:pt>
                <c:pt idx="2">
                  <c:v>KFC</c:v>
                </c:pt>
                <c:pt idx="3">
                  <c:v>Burger King</c:v>
                </c:pt>
                <c:pt idx="4">
                  <c:v>EatSure</c:v>
                </c:pt>
                <c:pt idx="5">
                  <c:v>Magicpin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412</c:v>
                </c:pt>
                <c:pt idx="1">
                  <c:v>348</c:v>
                </c:pt>
                <c:pt idx="2">
                  <c:v>291</c:v>
                </c:pt>
                <c:pt idx="3">
                  <c:v>244</c:v>
                </c:pt>
                <c:pt idx="4">
                  <c:v>176</c:v>
                </c:pt>
                <c:pt idx="5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E4-48EA-BD04-5AC7B715AE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order value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Domino's</c:v>
                </c:pt>
                <c:pt idx="1">
                  <c:v>Burger King</c:v>
                </c:pt>
                <c:pt idx="2">
                  <c:v>KFC</c:v>
                </c:pt>
                <c:pt idx="3">
                  <c:v>EatSure</c:v>
                </c:pt>
                <c:pt idx="4">
                  <c:v>Swiggy</c:v>
                </c:pt>
                <c:pt idx="5">
                  <c:v>Magicpin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880</c:v>
                </c:pt>
                <c:pt idx="1">
                  <c:v>845</c:v>
                </c:pt>
                <c:pt idx="2">
                  <c:v>812</c:v>
                </c:pt>
                <c:pt idx="3">
                  <c:v>760</c:v>
                </c:pt>
                <c:pt idx="4">
                  <c:v>705</c:v>
                </c:pt>
                <c:pt idx="5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49-465E-AB6C-D3CCF258BB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vs. prior year (%)</c:v>
                </c:pt>
              </c:strCache>
            </c:strRef>
          </c:tx>
          <c:spPr>
            <a:solidFill>
              <a:srgbClr val="1B4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Magicpin</c:v>
                </c:pt>
                <c:pt idx="1">
                  <c:v>EatSure</c:v>
                </c:pt>
                <c:pt idx="2">
                  <c:v>Swiggy</c:v>
                </c:pt>
                <c:pt idx="3">
                  <c:v>KFC</c:v>
                </c:pt>
                <c:pt idx="4">
                  <c:v>Domino's</c:v>
                </c:pt>
                <c:pt idx="5">
                  <c:v>Burger King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24</c:v>
                </c:pt>
                <c:pt idx="2">
                  <c:v>18</c:v>
                </c:pt>
                <c:pt idx="3">
                  <c:v>9</c:v>
                </c:pt>
                <c:pt idx="4">
                  <c:v>4</c:v>
                </c:pt>
                <c:pt idx="5">
                  <c:v>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E-4D00-9345-43AF0841D6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9B-4F58-859E-4F78BFFE47D2}"/>
              </c:ext>
            </c:extLst>
          </c:dPt>
          <c:dPt>
            <c:idx val="1"/>
            <c:bubble3D val="0"/>
            <c:spPr>
              <a:solidFill>
                <a:srgbClr val="4B7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9B-4F58-859E-4F78BFFE47D2}"/>
              </c:ext>
            </c:extLst>
          </c:dPt>
          <c:dPt>
            <c:idx val="2"/>
            <c:bubble3D val="0"/>
            <c:spPr>
              <a:solidFill>
                <a:srgbClr val="8199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9B-4F58-859E-4F78BFFE47D2}"/>
              </c:ext>
            </c:extLst>
          </c:dPt>
          <c:dPt>
            <c:idx val="3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9B-4F58-859E-4F78BFFE47D2}"/>
              </c:ext>
            </c:extLst>
          </c:dPt>
          <c:dPt>
            <c:idx val="4"/>
            <c:bubble3D val="0"/>
            <c:spPr>
              <a:solidFill>
                <a:srgbClr val="5A5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9B-4F58-859E-4F78BFFE47D2}"/>
              </c:ext>
            </c:extLst>
          </c:dPt>
          <c:dPt>
            <c:idx val="5"/>
            <c:bubble3D val="0"/>
            <c:spPr>
              <a:solidFill>
                <a:srgbClr val="AFAF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89B-4F58-859E-4F78BFFE47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9B-4F58-859E-4F78BFFE47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9B-4F58-859E-4F78BFFE47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9B-4F58-859E-4F78BFFE47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89B-4F58-859E-4F78BFFE47D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89B-4F58-859E-4F78BFFE47D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89B-4F58-859E-4F78BFFE47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Biryani</c:v>
                </c:pt>
                <c:pt idx="1">
                  <c:v>Burger</c:v>
                </c:pt>
                <c:pt idx="2">
                  <c:v>Chicken</c:v>
                </c:pt>
                <c:pt idx="3">
                  <c:v>Chinese</c:v>
                </c:pt>
                <c:pt idx="4">
                  <c:v>Combo</c:v>
                </c:pt>
                <c:pt idx="5">
                  <c:v>Desserts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22</c:v>
                </c:pt>
                <c:pt idx="2">
                  <c:v>17</c:v>
                </c:pt>
                <c:pt idx="3">
                  <c:v>15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89B-4F58-859E-4F78BFFE47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11111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 (%)</c:v>
                </c:pt>
              </c:strCache>
            </c:strRef>
          </c:tx>
          <c:spPr>
            <a:solidFill>
              <a:srgbClr val="1B4DF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Biryani</c:v>
                </c:pt>
                <c:pt idx="1">
                  <c:v>Burger</c:v>
                </c:pt>
                <c:pt idx="2">
                  <c:v>Chicken</c:v>
                </c:pt>
                <c:pt idx="3">
                  <c:v>Chinese</c:v>
                </c:pt>
                <c:pt idx="4">
                  <c:v>Combo</c:v>
                </c:pt>
                <c:pt idx="5">
                  <c:v>Desserts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22</c:v>
                </c:pt>
                <c:pt idx="2">
                  <c:v>17</c:v>
                </c:pt>
                <c:pt idx="3">
                  <c:v>15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E-4F0B-94A6-9C990D1F56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Contribution margin (%)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Biryani</c:v>
                </c:pt>
                <c:pt idx="1">
                  <c:v>Burger</c:v>
                </c:pt>
                <c:pt idx="2">
                  <c:v>Chicken</c:v>
                </c:pt>
                <c:pt idx="3">
                  <c:v>Chinese</c:v>
                </c:pt>
                <c:pt idx="4">
                  <c:v>Combo</c:v>
                </c:pt>
                <c:pt idx="5">
                  <c:v>Desserts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24</c:v>
                </c:pt>
                <c:pt idx="2">
                  <c:v>21</c:v>
                </c:pt>
                <c:pt idx="3">
                  <c:v>17</c:v>
                </c:pt>
                <c:pt idx="4">
                  <c:v>29</c:v>
                </c:pt>
                <c:pt idx="5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6E-4F0B-94A6-9C990D1F56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1111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</c:v>
                </c:pt>
              </c:strCache>
            </c:strRef>
          </c:tx>
          <c:spPr>
            <a:ln w="38100" cap="flat">
              <a:solidFill>
                <a:srgbClr val="1B4D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DFF"/>
              </a:solidFill>
              <a:ln w="9525" cap="flat">
                <a:solidFill>
                  <a:srgbClr val="1B4DF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1420</c:v>
                </c:pt>
                <c:pt idx="1">
                  <c:v>1180</c:v>
                </c:pt>
                <c:pt idx="2">
                  <c:v>1510</c:v>
                </c:pt>
                <c:pt idx="3">
                  <c:v>1760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7DB-4248-A3F7-631E5553E8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ln w="38100" cap="flat">
              <a:solidFill>
                <a:srgbClr val="1111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1180</c:v>
                </c:pt>
                <c:pt idx="1">
                  <c:v>990</c:v>
                </c:pt>
                <c:pt idx="2">
                  <c:v>1240</c:v>
                </c:pt>
                <c:pt idx="3">
                  <c:v>1390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7DB-4248-A3F7-631E5553E8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Regular</c:v>
                </c:pt>
              </c:strCache>
            </c:strRef>
          </c:tx>
          <c:spPr>
            <a:ln w="38100" cap="flat">
              <a:solidFill>
                <a:srgbClr val="9A9A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860</c:v>
                </c:pt>
                <c:pt idx="1">
                  <c:v>740</c:v>
                </c:pt>
                <c:pt idx="2">
                  <c:v>910</c:v>
                </c:pt>
                <c:pt idx="3">
                  <c:v>1020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7DB-4248-A3F7-631E5553E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1111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 (%)</c:v>
                </c:pt>
              </c:strCache>
            </c:strRef>
          </c:tx>
          <c:spPr>
            <a:solidFill>
              <a:srgbClr val="1B4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Breakfast</c:v>
                </c:pt>
                <c:pt idx="1">
                  <c:v>Lunch</c:v>
                </c:pt>
                <c:pt idx="2">
                  <c:v>Snacks</c:v>
                </c:pt>
                <c:pt idx="3">
                  <c:v>Dinner</c:v>
                </c:pt>
                <c:pt idx="4">
                  <c:v>Late 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24</c:v>
                </c:pt>
                <c:pt idx="2">
                  <c:v>16</c:v>
                </c:pt>
                <c:pt idx="3">
                  <c:v>41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3D-44FE-A34A-05B24E9019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rgbClr val="1B4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Regular</c:v>
                </c:pt>
                <c:pt idx="1">
                  <c:v>Medium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33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6-4EE7-8232-B779824A8A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6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TITLE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BODY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DIVIDER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685800"/>
            <a:ext cx="146304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Food Delivery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 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read on channels, categories, order sizes and the shape of the year.</a:t>
            </a:r>
            <a:endParaRPr lang="en-US" sz="1500" dirty="0"/>
          </a:p>
        </p:txBody>
      </p:sp>
      <p:sp>
        <p:nvSpPr>
          <p:cNvPr id="6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69080"/>
            <a:ext cx="8046720" cy="18288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channels  ·  6 categories  ·  3 order sizes  ·  4 months in view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90634*(1+#ppt_h/2)+0.0936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81890*(1+#ppt_h/2)+0.18110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73760*(1+#ppt_h/2)+0.26240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66231*(1+#ppt_h/2)+0.33769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59286*(1+#ppt_h/2)+0.40714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52905*(1+#ppt_h/2)+0.47095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47064*(1+#ppt_h/2)+0.52936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41736*(1+#ppt_h/2)+0.58264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36893*(1+#ppt_h/2)+0.63107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32507*(1+#ppt_h/2)+0.67493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28546*(1+#ppt_h/2)+0.71454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24982*(1+#ppt_h/2)+0.75018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21785*(1+#ppt_h/2)+0.78215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18925*(1+#ppt_h/2)+0.81075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16375*(1+#ppt_h/2)+0.83625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14109*(1+#ppt_h/2)+0.85891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12102*(1+#ppt_h/2)+0.87898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10330*(1+#ppt_h/2)+0.89670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8771*(1+#ppt_h/2)+0.91229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7404*(1+#ppt_h/2)+0.92596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6208*(1+#ppt_h/2)+0.93792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5130*(1+#ppt_h/2)+0.94870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4155*(1+#ppt_h/2)+0.95845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3281*(1+#ppt_h/2)+0.96719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2506*(1+#ppt_h/2)+0.97494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1831*(1+#ppt_h/2)+0.98169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1253*(1+#ppt_h/2)+0.98747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775*(1+#ppt_h/2)+0.99225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399*(1+#ppt_h/2)+0.99601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131*(1+#ppt_h/2)+0.99869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dashboard tracks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54864" cy="1371600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 King, Domino's, EatSure, KFC, Magicpin, Swiggy</a:t>
            </a:r>
            <a:endParaRPr lang="en-US" sz="11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54864" cy="1371600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709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Jan, Feb, Mar, Apr — the slicer window for every visual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260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26080"/>
            <a:ext cx="54864" cy="1371600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Biryani, Burger, Chicken, Chinese, Combo, Desserts</a:t>
            </a:r>
            <a:endParaRPr lang="en-US" sz="11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92608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926080"/>
            <a:ext cx="54864" cy="1371600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92040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size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Medium, Regular — the cross-cut in every chart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APPLY ACROSS EVERY VISUAL ON THE REPORT PAGE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8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62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16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2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78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94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02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56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18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7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26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34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88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at a glance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187452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placed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six channels</a:t>
            </a:r>
            <a:endParaRPr lang="en-US" sz="1000" dirty="0"/>
          </a:p>
        </p:txBody>
      </p:sp>
      <p:sp>
        <p:nvSpPr>
          <p:cNvPr id="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7160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71600"/>
            <a:ext cx="187452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70632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70632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70632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₹688</a:t>
            </a:r>
            <a:endParaRPr lang="en-US" sz="1000" dirty="0"/>
          </a:p>
        </p:txBody>
      </p:sp>
      <p:sp>
        <p:nvSpPr>
          <p:cNvPr id="14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137160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1371600"/>
            <a:ext cx="187452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9744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9744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large 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9744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minority of tickets</a:t>
            </a:r>
            <a:endParaRPr lang="en-US" sz="1000" dirty="0"/>
          </a:p>
        </p:txBody>
      </p:sp>
      <p:sp>
        <p:nvSpPr>
          <p:cNvPr id="19" name="KPI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1371600"/>
            <a:ext cx="1874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5976" y="1371600"/>
            <a:ext cx="187452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48856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48856" y="23774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Jan to Apr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February dip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numbers frame everything that follows: scale, basket, mix and momentum.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HEADLINE METRICS FOR THE 2026 REPORT YEAR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5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5000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decel="5000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5000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decel="5000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decel="5000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decel="5000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decel="5000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5000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600200"/>
            <a:ext cx="128016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takes the order — and who keeps the margin.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6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99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channels compete for the same plate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Orders by channel" descr="Column chart of illustrative orders in thousands: Swiggy 412, Domino's 348, KFC 291, Burger King 244, EatSure 176, Magicpin 132"/>
          <p:cNvGraphicFramePr/>
          <p:nvPr>
            <p:extLst>
              <p:ext uri="{D42A27DB-BD31-4B8C-83A1-F6EECF244321}">
                <p14:modId xmlns:p14="http://schemas.microsoft.com/office/powerpoint/2010/main" val="2011908868"/>
              </p:ext>
            </p:extLst>
          </p:nvPr>
        </p:nvGraphicFramePr>
        <p:xfrm>
          <a:off x="548640" y="12801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3716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split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Aggregators lead on volume; brand-owned channels win on basket size.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two channels carry roughly half of all orders.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tail is where promo spend has the most room to move.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FIGURES SHOWN FOR THE DASHBOARD'S CHANNEL SLICER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leaders are not value leaders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Average order value by channel" descr="Horizontal bar chart of illustrative average order value in rupees: Domino's 880, Burger King 845, KFC 812, EatSure 760, Swiggy 705, Magicpin 612"/>
          <p:cNvGraphicFramePr/>
          <p:nvPr>
            <p:extLst>
              <p:ext uri="{D42A27DB-BD31-4B8C-83A1-F6EECF244321}">
                <p14:modId xmlns:p14="http://schemas.microsoft.com/office/powerpoint/2010/main" val="2090038767"/>
              </p:ext>
            </p:extLst>
          </p:nvPr>
        </p:nvGraphicFramePr>
        <p:xfrm>
          <a:off x="548640" y="137160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46304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inversion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tops order count but sits fifth on basket value.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Brand-owned channels convert fewer orders at a higher ticket.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mix strategy per channel, not deck-wide.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AVERAGE ORDER VALUE IN RUPEES, BY CHANNEL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sits with the smaller channels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nnel growth" descr="Column chart of illustrative year-on-year growth: Magicpin plus 31 percent, EatSure plus 24, Swiggy plus 18, KFC plus 9, Domino's plus 4, Burger King minus 3"/>
          <p:cNvGraphicFramePr/>
          <p:nvPr>
            <p:extLst>
              <p:ext uri="{D42A27DB-BD31-4B8C-83A1-F6EECF244321}">
                <p14:modId xmlns:p14="http://schemas.microsoft.com/office/powerpoint/2010/main" val="2101093949"/>
              </p:ext>
            </p:extLst>
          </p:nvPr>
        </p:nvGraphicFramePr>
        <p:xfrm>
          <a:off x="548640" y="12801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3716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year moved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channels grow fastest off a low base.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Burger King is the only channel losing ground year on year.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growth sit in different places — fund both.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YEAR-ON-YEAR GROWTH BY CHANNEL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600200"/>
            <a:ext cx="128016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mix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actually order once the app is open.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6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99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 and burgers anchor the menu mix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ategory mix" descr="Doughnut chart of illustrative category share: Biryani 26 percent, Burger 22, Chicken 17, Chinese 15, Combo 12, Desserts 8"/>
          <p:cNvGraphicFramePr/>
          <p:nvPr>
            <p:extLst>
              <p:ext uri="{D42A27DB-BD31-4B8C-83A1-F6EECF244321}">
                <p14:modId xmlns:p14="http://schemas.microsoft.com/office/powerpoint/2010/main" val="667595041"/>
              </p:ext>
            </p:extLst>
          </p:nvPr>
        </p:nvGraphicFramePr>
        <p:xfrm>
          <a:off x="365760" y="123444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394960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67512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 leads share</a:t>
            </a:r>
            <a:endParaRPr lang="en-US" sz="1200" dirty="0"/>
          </a:p>
        </p:txBody>
      </p:sp>
      <p:sp>
        <p:nvSpPr>
          <p:cNvPr id="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2057400"/>
            <a:ext cx="320040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39496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67512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Combos punch above price</a:t>
            </a:r>
            <a:endParaRPr lang="en-US" sz="1200" dirty="0"/>
          </a:p>
        </p:txBody>
      </p:sp>
      <p:sp>
        <p:nvSpPr>
          <p:cNvPr id="1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3108960"/>
            <a:ext cx="320040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394960" y="3474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675120" y="3566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Desserts: the attach play</a:t>
            </a:r>
            <a:endParaRPr lang="en-US" sz="1200" dirty="0"/>
          </a:p>
        </p:txBody>
      </p:sp>
      <p:sp>
        <p:nvSpPr>
          <p:cNvPr id="1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4160520"/>
            <a:ext cx="320040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CATEGORY SHARE FROM THE REPORT'S CATEGORY SLICER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and margin do not line up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ategory share versus margin" descr="Grouped column chart comparing illustrative share of orders with contribution margin across six categories; desserts and combos have the highest margin but the lowest share"/>
          <p:cNvGraphicFramePr/>
          <p:nvPr>
            <p:extLst>
              <p:ext uri="{D42A27DB-BD31-4B8C-83A1-F6EECF244321}">
                <p14:modId xmlns:p14="http://schemas.microsoft.com/office/powerpoint/2010/main" val="2081385823"/>
              </p:ext>
            </p:extLst>
          </p:nvPr>
        </p:nvGraphicFramePr>
        <p:xfrm>
          <a:off x="548640" y="128016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4630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to close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Desserts and combos earn most per order but sell the least.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Biryani drives volume on the thinnest margin in the mix.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SHARE AND MARGIN BY CATEGORY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600200"/>
            <a:ext cx="1280160" cy="54864"/>
          </a:xfrm>
          <a:prstGeom prst="rect">
            <a:avLst/>
          </a:prstGeom>
          <a:solidFill>
            <a:srgbClr val="1B4DFF"/>
          </a:solidFill>
          <a:ln w="12700">
            <a:solidFill>
              <a:srgbClr val="1B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over time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orders land, and when they don't.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46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99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dips in February, then climbs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Monthly orders by size" descr="Line chart of illustrative monthly orders by size; all three sizes dip in February and rise through April, with large orders highest throughout"/>
          <p:cNvGraphicFramePr/>
          <p:nvPr>
            <p:extLst>
              <p:ext uri="{D42A27DB-BD31-4B8C-83A1-F6EECF244321}">
                <p14:modId xmlns:p14="http://schemas.microsoft.com/office/powerpoint/2010/main" val="2275172534"/>
              </p:ext>
            </p:extLst>
          </p:nvPr>
        </p:nvGraphicFramePr>
        <p:xfrm>
          <a:off x="548640" y="12801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4630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is the floor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order size troughs in the same month — a calendar effect, not a mix problem.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sets the high mark across all three sizes.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MONTHLY TOTALS ACROSS THE JAN–APR SLICER WINDOW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 is the business, late night the upside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Orders by daypart" descr="Column chart of illustrative order share by daypart: breakfast 7 percent, lunch 24, snacks 16, dinner 41, late night 12"/>
          <p:cNvGraphicFramePr/>
          <p:nvPr>
            <p:extLst>
              <p:ext uri="{D42A27DB-BD31-4B8C-83A1-F6EECF244321}">
                <p14:modId xmlns:p14="http://schemas.microsoft.com/office/powerpoint/2010/main" val="1048039525"/>
              </p:ext>
            </p:extLst>
          </p:nvPr>
        </p:nvGraphicFramePr>
        <p:xfrm>
          <a:off x="548640" y="12801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3716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hours go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 ten orders land in the dinner window.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night is small but carries the largest baskets.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 is the one daypart still effectively unserved.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DAYPART DISTRIBUTION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orders carry the revenue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Revenue share by order size" descr="Horizontal bar chart of illustrative revenue share: large 46 percent, medium 33 percent, regular 21 percent"/>
          <p:cNvGraphicFramePr/>
          <p:nvPr>
            <p:extLst>
              <p:ext uri="{D42A27DB-BD31-4B8C-83A1-F6EECF244321}">
                <p14:modId xmlns:p14="http://schemas.microsoft.com/office/powerpoint/2010/main" val="1413802938"/>
              </p:ext>
            </p:extLst>
          </p:nvPr>
        </p:nvGraphicFramePr>
        <p:xfrm>
          <a:off x="548640" y="137160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37160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17220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17220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comes from large orders, though they are a minority of tickets.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7220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medium baskets up one tier is the cheapest growth lever on the page.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REVENUE SHARE BY ORDER SIZE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with 2026</a:t>
            </a:r>
            <a:endParaRPr lang="en-US" sz="2600" dirty="0"/>
          </a:p>
        </p:txBody>
      </p:sp>
      <p:sp>
        <p:nvSpPr>
          <p:cNvPr id="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046720" cy="228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the top two channels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80560" y="12984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all volume sits there. Protect service levels before chasing new partners.</a:t>
            </a:r>
            <a:endParaRPr lang="en-US" sz="1200" dirty="0"/>
          </a:p>
        </p:txBody>
      </p:sp>
      <p:sp>
        <p:nvSpPr>
          <p:cNvPr id="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93392"/>
            <a:ext cx="804672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basket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167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orders drive revenue; upgrade medium baskets with combos and add-ons.</a:t>
            </a:r>
            <a:endParaRPr lang="en-US" sz="1200" dirty="0"/>
          </a:p>
        </p:txBody>
      </p:sp>
      <p:sp>
        <p:nvSpPr>
          <p:cNvPr id="11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62072"/>
            <a:ext cx="804672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around the February dip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035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it as a known trough and shift promo weight into March and April.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30752"/>
            <a:ext cx="804672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high-margin 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90448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Desserts and combos earn the most per order and have the most room to grow.</a:t>
            </a:r>
            <a:endParaRPr lang="en-US" sz="1200" dirty="0"/>
          </a:p>
        </p:txBody>
      </p:sp>
      <p:sp>
        <p:nvSpPr>
          <p:cNvPr id="19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599432"/>
            <a:ext cx="8046720" cy="13716"/>
          </a:xfrm>
          <a:prstGeom prst="rect">
            <a:avLst/>
          </a:prstGeom>
          <a:solidFill>
            <a:srgbClr val="D8D6CF"/>
          </a:solidFill>
          <a:ln w="12700">
            <a:solidFill>
              <a:srgbClr val="D8D6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THROUGHOUT ARE ILLUSTRATIVE, DRAWN FROM THE DASHBOARD'S STRUCTURE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5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5000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decel="5000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5000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decel="5000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694</Words>
  <Application>Microsoft Office PowerPoint</Application>
  <PresentationFormat>On-screen Show (16:9)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Online Food Delivery Annual Report 2026</vt:lpstr>
      <vt:lpstr>What the dashboard tracks</vt:lpstr>
      <vt:lpstr>The year at a glance</vt:lpstr>
      <vt:lpstr>Channels</vt:lpstr>
      <vt:lpstr>Six channels compete for the same plate</vt:lpstr>
      <vt:lpstr>Volume leaders are not value leaders</vt:lpstr>
      <vt:lpstr>Momentum sits with the smaller channels</vt:lpstr>
      <vt:lpstr>Menu mix</vt:lpstr>
      <vt:lpstr>Biryani and burgers anchor the menu mix</vt:lpstr>
      <vt:lpstr>Share and margin do not line up</vt:lpstr>
      <vt:lpstr>Demand over time</vt:lpstr>
      <vt:lpstr>The year dips in February, then climbs</vt:lpstr>
      <vt:lpstr>Dinner is the business, late night the upside</vt:lpstr>
      <vt:lpstr>Large orders carry the revenue</vt:lpstr>
      <vt:lpstr>What to do with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Gtec Perumbavoor</dc:creator>
  <cp:lastModifiedBy>Gtec Perumbavoor</cp:lastModifiedBy>
  <cp:revision>1</cp:revision>
  <dcterms:created xsi:type="dcterms:W3CDTF">2026-09-21T03:02:22Z</dcterms:created>
  <dcterms:modified xsi:type="dcterms:W3CDTF">2026-09-21T03:14:58Z</dcterms:modified>
</cp:coreProperties>
</file>